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Open Sans 1 Bold" charset="1" panose="00000000000000000000"/>
      <p:regular r:id="rId23"/>
    </p:embeddedFont>
    <p:embeddedFont>
      <p:font typeface="Open Sans 1" charset="1" panose="00000000000000000000"/>
      <p:regular r:id="rId24"/>
    </p:embeddedFont>
    <p:embeddedFont>
      <p:font typeface="Open Sans 2 Bold" charset="1" panose="020B0806030504020204"/>
      <p:regular r:id="rId25"/>
    </p:embeddedFont>
    <p:embeddedFont>
      <p:font typeface="Open Sans 2" charset="1" panose="020B0606030504020204"/>
      <p:regular r:id="rId26"/>
    </p:embeddedFont>
    <p:embeddedFont>
      <p:font typeface="Open Sans 1 Ultra-Bold"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3.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TextBox 2" id="2"/>
          <p:cNvSpPr txBox="true"/>
          <p:nvPr/>
        </p:nvSpPr>
        <p:spPr>
          <a:xfrm rot="0">
            <a:off x="4282867" y="3136827"/>
            <a:ext cx="9722265" cy="3126102"/>
          </a:xfrm>
          <a:prstGeom prst="rect">
            <a:avLst/>
          </a:prstGeom>
        </p:spPr>
        <p:txBody>
          <a:bodyPr anchor="t" rtlCol="false" tIns="0" lIns="0" bIns="0" rIns="0">
            <a:spAutoFit/>
          </a:bodyPr>
          <a:lstStyle/>
          <a:p>
            <a:pPr algn="ctr">
              <a:lnSpc>
                <a:spcPts val="8159"/>
              </a:lnSpc>
            </a:pPr>
            <a:r>
              <a:rPr lang="en-US" b="true" sz="7999">
                <a:solidFill>
                  <a:srgbClr val="0D747A"/>
                </a:solidFill>
                <a:latin typeface="Open Sans 1 Bold"/>
                <a:ea typeface="Open Sans 1 Bold"/>
                <a:cs typeface="Open Sans 1 Bold"/>
                <a:sym typeface="Open Sans 1 Bold"/>
              </a:rPr>
              <a:t>TRIỂN KHAI CÁC THUẬT TOÁN KHAI THÁC DỮ LIỆU</a:t>
            </a:r>
          </a:p>
        </p:txBody>
      </p:sp>
      <p:sp>
        <p:nvSpPr>
          <p:cNvPr name="Freeform 3" id="3"/>
          <p:cNvSpPr/>
          <p:nvPr/>
        </p:nvSpPr>
        <p:spPr>
          <a:xfrm flipH="false" flipV="false" rot="0">
            <a:off x="15014783" y="6890231"/>
            <a:ext cx="5284194" cy="3520594"/>
          </a:xfrm>
          <a:custGeom>
            <a:avLst/>
            <a:gdLst/>
            <a:ahLst/>
            <a:cxnLst/>
            <a:rect r="r" b="b" t="t" l="l"/>
            <a:pathLst>
              <a:path h="3520594" w="5284194">
                <a:moveTo>
                  <a:pt x="0" y="0"/>
                </a:moveTo>
                <a:lnTo>
                  <a:pt x="5284194" y="0"/>
                </a:lnTo>
                <a:lnTo>
                  <a:pt x="5284194" y="3520594"/>
                </a:lnTo>
                <a:lnTo>
                  <a:pt x="0" y="352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957952" y="-114300"/>
            <a:ext cx="5284194" cy="3520594"/>
          </a:xfrm>
          <a:custGeom>
            <a:avLst/>
            <a:gdLst/>
            <a:ahLst/>
            <a:cxnLst/>
            <a:rect r="r" b="b" t="t" l="l"/>
            <a:pathLst>
              <a:path h="3520594" w="5284194">
                <a:moveTo>
                  <a:pt x="5284194" y="3520594"/>
                </a:moveTo>
                <a:lnTo>
                  <a:pt x="0" y="3520594"/>
                </a:lnTo>
                <a:lnTo>
                  <a:pt x="0" y="0"/>
                </a:lnTo>
                <a:lnTo>
                  <a:pt x="5284194" y="0"/>
                </a:lnTo>
                <a:lnTo>
                  <a:pt x="5284194" y="352059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2460835" y="-3848845"/>
            <a:ext cx="5609143" cy="5609143"/>
          </a:xfrm>
          <a:custGeom>
            <a:avLst/>
            <a:gdLst/>
            <a:ahLst/>
            <a:cxnLst/>
            <a:rect r="r" b="b" t="t" l="l"/>
            <a:pathLst>
              <a:path h="5609143" w="5609143">
                <a:moveTo>
                  <a:pt x="5609143" y="0"/>
                </a:moveTo>
                <a:lnTo>
                  <a:pt x="0" y="0"/>
                </a:lnTo>
                <a:lnTo>
                  <a:pt x="0" y="5609142"/>
                </a:lnTo>
                <a:lnTo>
                  <a:pt x="5609143" y="5609142"/>
                </a:lnTo>
                <a:lnTo>
                  <a:pt x="56091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0">
            <a:off x="-218022" y="8526703"/>
            <a:ext cx="5609143" cy="5609143"/>
          </a:xfrm>
          <a:custGeom>
            <a:avLst/>
            <a:gdLst/>
            <a:ahLst/>
            <a:cxnLst/>
            <a:rect r="r" b="b" t="t" l="l"/>
            <a:pathLst>
              <a:path h="5609143" w="5609143">
                <a:moveTo>
                  <a:pt x="0" y="5609142"/>
                </a:moveTo>
                <a:lnTo>
                  <a:pt x="5609142" y="5609142"/>
                </a:lnTo>
                <a:lnTo>
                  <a:pt x="5609142" y="0"/>
                </a:lnTo>
                <a:lnTo>
                  <a:pt x="0" y="0"/>
                </a:lnTo>
                <a:lnTo>
                  <a:pt x="0" y="560914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922010" y="6960740"/>
            <a:ext cx="3973329" cy="558359"/>
          </a:xfrm>
          <a:prstGeom prst="rect">
            <a:avLst/>
          </a:prstGeom>
        </p:spPr>
        <p:txBody>
          <a:bodyPr anchor="t" rtlCol="false" tIns="0" lIns="0" bIns="0" rIns="0">
            <a:spAutoFit/>
          </a:bodyPr>
          <a:lstStyle/>
          <a:p>
            <a:pPr algn="ctr">
              <a:lnSpc>
                <a:spcPts val="4543"/>
              </a:lnSpc>
            </a:pPr>
            <a:r>
              <a:rPr lang="en-US" sz="3245">
                <a:solidFill>
                  <a:srgbClr val="0D747A"/>
                </a:solidFill>
                <a:latin typeface="Open Sans 1"/>
                <a:ea typeface="Open Sans 1"/>
                <a:cs typeface="Open Sans 1"/>
                <a:sym typeface="Open Sans 1"/>
              </a:rPr>
              <a:t>Sinh viên thực hiện:</a:t>
            </a:r>
          </a:p>
        </p:txBody>
      </p:sp>
      <p:sp>
        <p:nvSpPr>
          <p:cNvPr name="TextBox 8" id="8"/>
          <p:cNvSpPr txBox="true"/>
          <p:nvPr/>
        </p:nvSpPr>
        <p:spPr>
          <a:xfrm rot="0">
            <a:off x="7956643" y="6960740"/>
            <a:ext cx="6275997" cy="558359"/>
          </a:xfrm>
          <a:prstGeom prst="rect">
            <a:avLst/>
          </a:prstGeom>
        </p:spPr>
        <p:txBody>
          <a:bodyPr anchor="t" rtlCol="false" tIns="0" lIns="0" bIns="0" rIns="0">
            <a:spAutoFit/>
          </a:bodyPr>
          <a:lstStyle/>
          <a:p>
            <a:pPr algn="ctr">
              <a:lnSpc>
                <a:spcPts val="4543"/>
              </a:lnSpc>
            </a:pPr>
            <a:r>
              <a:rPr lang="en-US" b="true" sz="3245">
                <a:solidFill>
                  <a:srgbClr val="0D747A"/>
                </a:solidFill>
                <a:latin typeface="Open Sans 1 Bold"/>
                <a:ea typeface="Open Sans 1 Bold"/>
                <a:cs typeface="Open Sans 1 Bold"/>
                <a:sym typeface="Open Sans 1 Bold"/>
              </a:rPr>
              <a:t>Nguyễn Cao Thắng - 22521329</a:t>
            </a:r>
          </a:p>
        </p:txBody>
      </p:sp>
      <p:sp>
        <p:nvSpPr>
          <p:cNvPr name="TextBox 9" id="9"/>
          <p:cNvSpPr txBox="true"/>
          <p:nvPr/>
        </p:nvSpPr>
        <p:spPr>
          <a:xfrm rot="0">
            <a:off x="4519601" y="7728443"/>
            <a:ext cx="9406760" cy="558359"/>
          </a:xfrm>
          <a:prstGeom prst="rect">
            <a:avLst/>
          </a:prstGeom>
        </p:spPr>
        <p:txBody>
          <a:bodyPr anchor="t" rtlCol="false" tIns="0" lIns="0" bIns="0" rIns="0">
            <a:spAutoFit/>
          </a:bodyPr>
          <a:lstStyle/>
          <a:p>
            <a:pPr algn="ctr">
              <a:lnSpc>
                <a:spcPts val="4543"/>
              </a:lnSpc>
            </a:pPr>
            <a:r>
              <a:rPr lang="en-US" sz="3245">
                <a:solidFill>
                  <a:srgbClr val="0D747A"/>
                </a:solidFill>
                <a:latin typeface="Open Sans 1"/>
                <a:ea typeface="Open Sans 1"/>
                <a:cs typeface="Open Sans 1"/>
                <a:sym typeface="Open Sans 1"/>
              </a:rPr>
              <a:t>GVHD: ThS. Mai Xuân Hùng | IS252.P21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TextBox 2" id="2"/>
          <p:cNvSpPr txBox="true"/>
          <p:nvPr/>
        </p:nvSpPr>
        <p:spPr>
          <a:xfrm rot="0">
            <a:off x="3130866" y="4605615"/>
            <a:ext cx="12026268" cy="3489325"/>
          </a:xfrm>
          <a:prstGeom prst="rect">
            <a:avLst/>
          </a:prstGeom>
        </p:spPr>
        <p:txBody>
          <a:bodyPr anchor="t" rtlCol="false" tIns="0" lIns="0" bIns="0" rIns="0">
            <a:spAutoFit/>
          </a:bodyPr>
          <a:lstStyle/>
          <a:p>
            <a:pPr algn="just">
              <a:lnSpc>
                <a:spcPts val="3499"/>
              </a:lnSpc>
            </a:pPr>
            <a:r>
              <a:rPr lang="en-US" sz="2499">
                <a:solidFill>
                  <a:srgbClr val="0D747A"/>
                </a:solidFill>
                <a:latin typeface="Open Sans 1"/>
                <a:ea typeface="Open Sans 1"/>
                <a:cs typeface="Open Sans 1"/>
                <a:sym typeface="Open Sans 1"/>
              </a:rPr>
              <a:t>Đồ án này được thực hiện với mục tiêu áp dụng các kỹ thuật cốt lõi trong lĩnh vực khai thác dữ liệu nhằm xây dựng một hệ thống có khả năng xử lý, phân tích và trực quan hóa thông tin một cách hiệu quả. Python được sử dụng làm ngôn ngữ lập trình chính nhờ sự linh hoạt và hệ sinh thái thư viện phong phú hỗ trợ cho xử lý dữ liệu. Các thư viện như pandas, numpy, itertools và matplotlib đóng vai trò quan trọng trong việc đọc dữ liệu, tiền xử lý, xây dựng mô hình, huấn luyện và trực quan hóa kết quả. Việc sử dụng các công cụ này không chỉ giúp tăng hiệu suất làm việc mà còn thể hiện khả năng tích hợp giữa lý thuyết và thực hành</a:t>
            </a:r>
          </a:p>
        </p:txBody>
      </p:sp>
      <p:sp>
        <p:nvSpPr>
          <p:cNvPr name="TextBox 3" id="3"/>
          <p:cNvSpPr txBox="true"/>
          <p:nvPr/>
        </p:nvSpPr>
        <p:spPr>
          <a:xfrm rot="0">
            <a:off x="4643745" y="2743581"/>
            <a:ext cx="9000510" cy="1477897"/>
          </a:xfrm>
          <a:prstGeom prst="rect">
            <a:avLst/>
          </a:prstGeom>
        </p:spPr>
        <p:txBody>
          <a:bodyPr anchor="t" rtlCol="false" tIns="0" lIns="0" bIns="0" rIns="0">
            <a:spAutoFit/>
          </a:bodyPr>
          <a:lstStyle/>
          <a:p>
            <a:pPr algn="ctr">
              <a:lnSpc>
                <a:spcPts val="11117"/>
              </a:lnSpc>
            </a:pPr>
            <a:r>
              <a:rPr lang="en-US" b="true" sz="10899">
                <a:solidFill>
                  <a:srgbClr val="0D747A"/>
                </a:solidFill>
                <a:latin typeface="Open Sans 1 Bold"/>
                <a:ea typeface="Open Sans 1 Bold"/>
                <a:cs typeface="Open Sans 1 Bold"/>
                <a:sym typeface="Open Sans 1 Bold"/>
              </a:rPr>
              <a:t>Tóm tắt</a:t>
            </a:r>
          </a:p>
        </p:txBody>
      </p:sp>
      <p:sp>
        <p:nvSpPr>
          <p:cNvPr name="Freeform 4" id="4"/>
          <p:cNvSpPr/>
          <p:nvPr/>
        </p:nvSpPr>
        <p:spPr>
          <a:xfrm flipH="true" flipV="false" rot="0">
            <a:off x="-2012704" y="6899756"/>
            <a:ext cx="5284194" cy="3520594"/>
          </a:xfrm>
          <a:custGeom>
            <a:avLst/>
            <a:gdLst/>
            <a:ahLst/>
            <a:cxnLst/>
            <a:rect r="r" b="b" t="t" l="l"/>
            <a:pathLst>
              <a:path h="3520594" w="5284194">
                <a:moveTo>
                  <a:pt x="5284194" y="0"/>
                </a:moveTo>
                <a:lnTo>
                  <a:pt x="0" y="0"/>
                </a:lnTo>
                <a:lnTo>
                  <a:pt x="0" y="3520594"/>
                </a:lnTo>
                <a:lnTo>
                  <a:pt x="5284194" y="3520594"/>
                </a:lnTo>
                <a:lnTo>
                  <a:pt x="52841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0">
            <a:off x="15016510" y="-157128"/>
            <a:ext cx="5284194" cy="3520594"/>
          </a:xfrm>
          <a:custGeom>
            <a:avLst/>
            <a:gdLst/>
            <a:ahLst/>
            <a:cxnLst/>
            <a:rect r="r" b="b" t="t" l="l"/>
            <a:pathLst>
              <a:path h="3520594" w="5284194">
                <a:moveTo>
                  <a:pt x="0" y="3520595"/>
                </a:moveTo>
                <a:lnTo>
                  <a:pt x="5284194" y="3520595"/>
                </a:lnTo>
                <a:lnTo>
                  <a:pt x="5284194" y="0"/>
                </a:lnTo>
                <a:lnTo>
                  <a:pt x="0" y="0"/>
                </a:lnTo>
                <a:lnTo>
                  <a:pt x="0" y="35205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3848845"/>
            <a:ext cx="5609143" cy="5609143"/>
          </a:xfrm>
          <a:custGeom>
            <a:avLst/>
            <a:gdLst/>
            <a:ahLst/>
            <a:cxnLst/>
            <a:rect r="r" b="b" t="t" l="l"/>
            <a:pathLst>
              <a:path h="5609143" w="5609143">
                <a:moveTo>
                  <a:pt x="0" y="0"/>
                </a:moveTo>
                <a:lnTo>
                  <a:pt x="5609143" y="0"/>
                </a:lnTo>
                <a:lnTo>
                  <a:pt x="5609143" y="5609142"/>
                </a:lnTo>
                <a:lnTo>
                  <a:pt x="0" y="56091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true" rot="0">
            <a:off x="12678857" y="8526703"/>
            <a:ext cx="5609143" cy="5609143"/>
          </a:xfrm>
          <a:custGeom>
            <a:avLst/>
            <a:gdLst/>
            <a:ahLst/>
            <a:cxnLst/>
            <a:rect r="r" b="b" t="t" l="l"/>
            <a:pathLst>
              <a:path h="5609143" w="5609143">
                <a:moveTo>
                  <a:pt x="5609143" y="5609142"/>
                </a:moveTo>
                <a:lnTo>
                  <a:pt x="0" y="5609142"/>
                </a:lnTo>
                <a:lnTo>
                  <a:pt x="0" y="0"/>
                </a:lnTo>
                <a:lnTo>
                  <a:pt x="5609143" y="0"/>
                </a:lnTo>
                <a:lnTo>
                  <a:pt x="5609143" y="5609142"/>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grpSp>
        <p:nvGrpSpPr>
          <p:cNvPr name="Group 2" id="2"/>
          <p:cNvGrpSpPr/>
          <p:nvPr/>
        </p:nvGrpSpPr>
        <p:grpSpPr>
          <a:xfrm rot="0">
            <a:off x="11393537" y="2550682"/>
            <a:ext cx="5299610" cy="6359410"/>
            <a:chOff x="0" y="0"/>
            <a:chExt cx="11062970" cy="13275310"/>
          </a:xfrm>
        </p:grpSpPr>
        <p:sp>
          <p:nvSpPr>
            <p:cNvPr name="Freeform 3" id="3"/>
            <p:cNvSpPr/>
            <p:nvPr/>
          </p:nvSpPr>
          <p:spPr>
            <a:xfrm flipH="false" flipV="false" rot="0">
              <a:off x="0" y="0"/>
              <a:ext cx="11062970" cy="13275311"/>
            </a:xfrm>
            <a:custGeom>
              <a:avLst/>
              <a:gdLst/>
              <a:ahLst/>
              <a:cxnLst/>
              <a:rect r="r" b="b" t="t" l="l"/>
              <a:pathLst>
                <a:path h="13275311" w="11062970">
                  <a:moveTo>
                    <a:pt x="6649720" y="0"/>
                  </a:moveTo>
                  <a:lnTo>
                    <a:pt x="11062970" y="0"/>
                  </a:lnTo>
                  <a:lnTo>
                    <a:pt x="11062970" y="13275311"/>
                  </a:lnTo>
                  <a:lnTo>
                    <a:pt x="0" y="13275311"/>
                  </a:lnTo>
                  <a:lnTo>
                    <a:pt x="0" y="6649720"/>
                  </a:lnTo>
                  <a:cubicBezTo>
                    <a:pt x="0" y="2976880"/>
                    <a:pt x="2976880" y="0"/>
                    <a:pt x="6649720" y="0"/>
                  </a:cubicBezTo>
                  <a:close/>
                </a:path>
              </a:pathLst>
            </a:custGeom>
            <a:blipFill>
              <a:blip r:embed="rId2"/>
              <a:stretch>
                <a:fillRect l="-63741" t="0" r="-63741" b="0"/>
              </a:stretch>
            </a:blipFill>
          </p:spPr>
        </p:sp>
      </p:grpSp>
      <p:sp>
        <p:nvSpPr>
          <p:cNvPr name="TextBox 4" id="4"/>
          <p:cNvSpPr txBox="true"/>
          <p:nvPr/>
        </p:nvSpPr>
        <p:spPr>
          <a:xfrm rot="0">
            <a:off x="1746832" y="3418612"/>
            <a:ext cx="8898565" cy="5434330"/>
          </a:xfrm>
          <a:prstGeom prst="rect">
            <a:avLst/>
          </a:prstGeom>
        </p:spPr>
        <p:txBody>
          <a:bodyPr anchor="t" rtlCol="false" tIns="0" lIns="0" bIns="0" rIns="0">
            <a:spAutoFit/>
          </a:bodyPr>
          <a:lstStyle/>
          <a:p>
            <a:pPr algn="l" marL="604518" indent="-302259" lvl="1">
              <a:lnSpc>
                <a:spcPts val="3919"/>
              </a:lnSpc>
              <a:buFont typeface="Arial"/>
              <a:buChar char="•"/>
            </a:pPr>
            <a:r>
              <a:rPr lang="en-US" sz="2799">
                <a:solidFill>
                  <a:srgbClr val="0D747A"/>
                </a:solidFill>
                <a:latin typeface="Open Sans 1"/>
                <a:ea typeface="Open Sans 1"/>
                <a:cs typeface="Open Sans 1"/>
                <a:sym typeface="Open Sans 1"/>
              </a:rPr>
              <a:t>Xây dựng nền tảng lý thuyết: Tổng hợp và trình bày các kỹ thuật khai phá dữ liệu, kèm theo triển khai thực tế các thuật toán quan trọng.</a:t>
            </a:r>
          </a:p>
          <a:p>
            <a:pPr algn="l" marL="604518" indent="-302259" lvl="1">
              <a:lnSpc>
                <a:spcPts val="3919"/>
              </a:lnSpc>
              <a:buFont typeface="Arial"/>
              <a:buChar char="•"/>
            </a:pPr>
            <a:r>
              <a:rPr lang="en-US" sz="2799">
                <a:solidFill>
                  <a:srgbClr val="0D747A"/>
                </a:solidFill>
                <a:latin typeface="Open Sans 1"/>
                <a:ea typeface="Open Sans 1"/>
                <a:cs typeface="Open Sans 1"/>
                <a:sym typeface="Open Sans 1"/>
              </a:rPr>
              <a:t>Phát triển ứng dụng desktop: Xây dựng giao diện người dùng trực quan bằng tkinter, cho phép tải dữ liệu, điều chỉnh tham số và quan sát kết quả trực tiếp.</a:t>
            </a:r>
          </a:p>
          <a:p>
            <a:pPr algn="l" marL="604518" indent="-302259" lvl="1">
              <a:lnSpc>
                <a:spcPts val="3919"/>
              </a:lnSpc>
              <a:buFont typeface="Arial"/>
              <a:buChar char="•"/>
            </a:pPr>
            <a:r>
              <a:rPr lang="en-US" sz="2799">
                <a:solidFill>
                  <a:srgbClr val="0D747A"/>
                </a:solidFill>
                <a:latin typeface="Open Sans 1"/>
                <a:ea typeface="Open Sans 1"/>
                <a:cs typeface="Open Sans 1"/>
                <a:sym typeface="Open Sans 1"/>
              </a:rPr>
              <a:t>Thiết lập hệ thống đánh giá toàn diện: Xây dựng framework đánh giá hiệu suất đa chiều, giúp người dùng có cái nhìn khách quan về chất lượng mô hình.</a:t>
            </a:r>
          </a:p>
        </p:txBody>
      </p:sp>
      <p:sp>
        <p:nvSpPr>
          <p:cNvPr name="Freeform 5" id="5"/>
          <p:cNvSpPr/>
          <p:nvPr/>
        </p:nvSpPr>
        <p:spPr>
          <a:xfrm flipH="true" flipV="false" rot="0">
            <a:off x="-2012704" y="6899756"/>
            <a:ext cx="5284194" cy="3520594"/>
          </a:xfrm>
          <a:custGeom>
            <a:avLst/>
            <a:gdLst/>
            <a:ahLst/>
            <a:cxnLst/>
            <a:rect r="r" b="b" t="t" l="l"/>
            <a:pathLst>
              <a:path h="3520594" w="5284194">
                <a:moveTo>
                  <a:pt x="5284194" y="0"/>
                </a:moveTo>
                <a:lnTo>
                  <a:pt x="0" y="0"/>
                </a:lnTo>
                <a:lnTo>
                  <a:pt x="0" y="3520594"/>
                </a:lnTo>
                <a:lnTo>
                  <a:pt x="5284194" y="3520594"/>
                </a:lnTo>
                <a:lnTo>
                  <a:pt x="528419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0">
            <a:off x="15016510" y="-133350"/>
            <a:ext cx="5284194" cy="3520594"/>
          </a:xfrm>
          <a:custGeom>
            <a:avLst/>
            <a:gdLst/>
            <a:ahLst/>
            <a:cxnLst/>
            <a:rect r="r" b="b" t="t" l="l"/>
            <a:pathLst>
              <a:path h="3520594" w="5284194">
                <a:moveTo>
                  <a:pt x="0" y="3520594"/>
                </a:moveTo>
                <a:lnTo>
                  <a:pt x="5284194" y="3520594"/>
                </a:lnTo>
                <a:lnTo>
                  <a:pt x="5284194" y="0"/>
                </a:lnTo>
                <a:lnTo>
                  <a:pt x="0" y="0"/>
                </a:lnTo>
                <a:lnTo>
                  <a:pt x="0" y="352059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746832" y="1855547"/>
            <a:ext cx="9646706" cy="1399795"/>
          </a:xfrm>
          <a:prstGeom prst="rect">
            <a:avLst/>
          </a:prstGeom>
        </p:spPr>
        <p:txBody>
          <a:bodyPr anchor="t" rtlCol="false" tIns="0" lIns="0" bIns="0" rIns="0">
            <a:spAutoFit/>
          </a:bodyPr>
          <a:lstStyle/>
          <a:p>
            <a:pPr algn="l">
              <a:lnSpc>
                <a:spcPts val="10608"/>
              </a:lnSpc>
            </a:pPr>
            <a:r>
              <a:rPr lang="en-US" sz="10400" b="true">
                <a:solidFill>
                  <a:srgbClr val="0D747A"/>
                </a:solidFill>
                <a:latin typeface="Open Sans 1 Bold"/>
                <a:ea typeface="Open Sans 1 Bold"/>
                <a:cs typeface="Open Sans 1 Bold"/>
                <a:sym typeface="Open Sans 1 Bold"/>
              </a:rPr>
              <a:t>Mục tiêu</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p:cNvSpPr/>
          <p:nvPr/>
        </p:nvSpPr>
        <p:spPr>
          <a:xfrm flipH="false" flipV="false" rot="0">
            <a:off x="579247" y="4039782"/>
            <a:ext cx="830745" cy="830745"/>
          </a:xfrm>
          <a:custGeom>
            <a:avLst/>
            <a:gdLst/>
            <a:ahLst/>
            <a:cxnLst/>
            <a:rect r="r" b="b" t="t" l="l"/>
            <a:pathLst>
              <a:path h="830745" w="830745">
                <a:moveTo>
                  <a:pt x="0" y="0"/>
                </a:moveTo>
                <a:lnTo>
                  <a:pt x="830745" y="0"/>
                </a:lnTo>
                <a:lnTo>
                  <a:pt x="830745" y="830744"/>
                </a:lnTo>
                <a:lnTo>
                  <a:pt x="0" y="830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687144" y="4858339"/>
            <a:ext cx="6798413" cy="3329940"/>
          </a:xfrm>
          <a:prstGeom prst="rect">
            <a:avLst/>
          </a:prstGeom>
        </p:spPr>
        <p:txBody>
          <a:bodyPr anchor="t" rtlCol="false" tIns="0" lIns="0" bIns="0" rIns="0">
            <a:spAutoFit/>
          </a:bodyPr>
          <a:lstStyle/>
          <a:p>
            <a:pPr algn="l">
              <a:lnSpc>
                <a:spcPts val="3360"/>
              </a:lnSpc>
            </a:pPr>
            <a:r>
              <a:rPr lang="en-US" sz="2400">
                <a:solidFill>
                  <a:srgbClr val="0D747A"/>
                </a:solidFill>
                <a:latin typeface="Open Sans 1"/>
                <a:ea typeface="Open Sans 1"/>
                <a:cs typeface="Open Sans 1"/>
                <a:sym typeface="Open Sans 1"/>
              </a:rPr>
              <a:t>Đề tài sử dụng Python làm ngôn ngữ chính, kết hợp với các thư viện cốt lõi như pandas, numpy, itertools, matplotlib và tkinter để đảm bảo tính nhất quán và hiệu quả.</a:t>
            </a:r>
          </a:p>
          <a:p>
            <a:pPr algn="l">
              <a:lnSpc>
                <a:spcPts val="3360"/>
              </a:lnSpc>
            </a:pPr>
          </a:p>
          <a:p>
            <a:pPr algn="l">
              <a:lnSpc>
                <a:spcPts val="3360"/>
              </a:lnSpc>
            </a:pPr>
            <a:r>
              <a:rPr lang="en-US" sz="2400">
                <a:solidFill>
                  <a:srgbClr val="0D747A"/>
                </a:solidFill>
                <a:latin typeface="Open Sans 1"/>
                <a:ea typeface="Open Sans 1"/>
                <a:cs typeface="Open Sans 1"/>
                <a:sym typeface="Open Sans 1"/>
              </a:rPr>
              <a:t>Các thư viện này hỗ trợ xử lý dữ liệu, tính toán khoa học, trực quan hóa và phát triển giao diện đồ họa.</a:t>
            </a:r>
          </a:p>
        </p:txBody>
      </p:sp>
      <p:sp>
        <p:nvSpPr>
          <p:cNvPr name="TextBox 4" id="4"/>
          <p:cNvSpPr txBox="true"/>
          <p:nvPr/>
        </p:nvSpPr>
        <p:spPr>
          <a:xfrm rot="0">
            <a:off x="10460887" y="4858339"/>
            <a:ext cx="6798413" cy="3329940"/>
          </a:xfrm>
          <a:prstGeom prst="rect">
            <a:avLst/>
          </a:prstGeom>
        </p:spPr>
        <p:txBody>
          <a:bodyPr anchor="t" rtlCol="false" tIns="0" lIns="0" bIns="0" rIns="0">
            <a:spAutoFit/>
          </a:bodyPr>
          <a:lstStyle/>
          <a:p>
            <a:pPr algn="l">
              <a:lnSpc>
                <a:spcPts val="3360"/>
              </a:lnSpc>
            </a:pPr>
            <a:r>
              <a:rPr lang="en-US" sz="2400">
                <a:solidFill>
                  <a:srgbClr val="0D747A"/>
                </a:solidFill>
                <a:latin typeface="Open Sans 1"/>
                <a:ea typeface="Open Sans 1"/>
                <a:cs typeface="Open Sans 1"/>
                <a:sym typeface="Open Sans 1"/>
              </a:rPr>
              <a:t>Đề tài là tài liệu tham khảo lý thuyết và công cụ thực hành hiệu quả, giúp người dùng tiếp cận, học hỏi và áp dụng kỹ thuật khai phá dữ liệu một cách trực quan và chính xác.</a:t>
            </a:r>
          </a:p>
          <a:p>
            <a:pPr algn="l">
              <a:lnSpc>
                <a:spcPts val="3360"/>
              </a:lnSpc>
            </a:pPr>
          </a:p>
          <a:p>
            <a:pPr algn="l">
              <a:lnSpc>
                <a:spcPts val="3360"/>
              </a:lnSpc>
            </a:pPr>
            <a:r>
              <a:rPr lang="en-US" sz="2400">
                <a:solidFill>
                  <a:srgbClr val="0D747A"/>
                </a:solidFill>
                <a:latin typeface="Open Sans 1"/>
                <a:ea typeface="Open Sans 1"/>
                <a:cs typeface="Open Sans 1"/>
                <a:sym typeface="Open Sans 1"/>
              </a:rPr>
              <a:t>Góp phần đơn giản hóa việc tiếp cận công nghệ khai phá dữ liệu, hỗ trợ ra quyết định dựa trên dữ liệu.</a:t>
            </a:r>
          </a:p>
        </p:txBody>
      </p:sp>
      <p:sp>
        <p:nvSpPr>
          <p:cNvPr name="TextBox 5" id="5"/>
          <p:cNvSpPr txBox="true"/>
          <p:nvPr/>
        </p:nvSpPr>
        <p:spPr>
          <a:xfrm rot="0">
            <a:off x="1687144" y="4131621"/>
            <a:ext cx="6798413" cy="580390"/>
          </a:xfrm>
          <a:prstGeom prst="rect">
            <a:avLst/>
          </a:prstGeom>
        </p:spPr>
        <p:txBody>
          <a:bodyPr anchor="t" rtlCol="false" tIns="0" lIns="0" bIns="0" rIns="0">
            <a:spAutoFit/>
          </a:bodyPr>
          <a:lstStyle/>
          <a:p>
            <a:pPr algn="l">
              <a:lnSpc>
                <a:spcPts val="4759"/>
              </a:lnSpc>
            </a:pPr>
            <a:r>
              <a:rPr lang="en-US" sz="3399" b="true">
                <a:solidFill>
                  <a:srgbClr val="0D747A"/>
                </a:solidFill>
                <a:latin typeface="Open Sans 1 Bold"/>
                <a:ea typeface="Open Sans 1 Bold"/>
                <a:cs typeface="Open Sans 1 Bold"/>
                <a:sym typeface="Open Sans 1 Bold"/>
              </a:rPr>
              <a:t>Công nghệ sử dụng</a:t>
            </a:r>
          </a:p>
        </p:txBody>
      </p:sp>
      <p:sp>
        <p:nvSpPr>
          <p:cNvPr name="TextBox 6" id="6"/>
          <p:cNvSpPr txBox="true"/>
          <p:nvPr/>
        </p:nvSpPr>
        <p:spPr>
          <a:xfrm rot="0">
            <a:off x="10460887" y="4131621"/>
            <a:ext cx="6798413" cy="580390"/>
          </a:xfrm>
          <a:prstGeom prst="rect">
            <a:avLst/>
          </a:prstGeom>
        </p:spPr>
        <p:txBody>
          <a:bodyPr anchor="t" rtlCol="false" tIns="0" lIns="0" bIns="0" rIns="0">
            <a:spAutoFit/>
          </a:bodyPr>
          <a:lstStyle/>
          <a:p>
            <a:pPr algn="l">
              <a:lnSpc>
                <a:spcPts val="4759"/>
              </a:lnSpc>
            </a:pPr>
            <a:r>
              <a:rPr lang="en-US" sz="3399" b="true">
                <a:solidFill>
                  <a:srgbClr val="0D747A"/>
                </a:solidFill>
                <a:latin typeface="Open Sans 1 Bold"/>
                <a:ea typeface="Open Sans 1 Bold"/>
                <a:cs typeface="Open Sans 1 Bold"/>
                <a:sym typeface="Open Sans 1 Bold"/>
              </a:rPr>
              <a:t>Giá trị mang lại</a:t>
            </a:r>
          </a:p>
        </p:txBody>
      </p:sp>
      <p:sp>
        <p:nvSpPr>
          <p:cNvPr name="TextBox 7" id="7"/>
          <p:cNvSpPr txBox="true"/>
          <p:nvPr/>
        </p:nvSpPr>
        <p:spPr>
          <a:xfrm rot="0">
            <a:off x="4018153" y="1916180"/>
            <a:ext cx="10251694" cy="1286256"/>
          </a:xfrm>
          <a:prstGeom prst="rect">
            <a:avLst/>
          </a:prstGeom>
        </p:spPr>
        <p:txBody>
          <a:bodyPr anchor="t" rtlCol="false" tIns="0" lIns="0" bIns="0" rIns="0">
            <a:spAutoFit/>
          </a:bodyPr>
          <a:lstStyle/>
          <a:p>
            <a:pPr algn="ctr">
              <a:lnSpc>
                <a:spcPts val="9792"/>
              </a:lnSpc>
            </a:pPr>
            <a:r>
              <a:rPr lang="en-US" b="true" sz="9600">
                <a:solidFill>
                  <a:srgbClr val="0D747A"/>
                </a:solidFill>
                <a:latin typeface="Open Sans 1 Bold"/>
                <a:ea typeface="Open Sans 1 Bold"/>
                <a:cs typeface="Open Sans 1 Bold"/>
                <a:sym typeface="Open Sans 1 Bold"/>
              </a:rPr>
              <a:t>Phạm vi</a:t>
            </a:r>
          </a:p>
        </p:txBody>
      </p:sp>
      <p:sp>
        <p:nvSpPr>
          <p:cNvPr name="Freeform 8" id="8"/>
          <p:cNvSpPr/>
          <p:nvPr/>
        </p:nvSpPr>
        <p:spPr>
          <a:xfrm flipH="false" flipV="false" rot="0">
            <a:off x="9429535" y="4039782"/>
            <a:ext cx="830745" cy="830745"/>
          </a:xfrm>
          <a:custGeom>
            <a:avLst/>
            <a:gdLst/>
            <a:ahLst/>
            <a:cxnLst/>
            <a:rect r="r" b="b" t="t" l="l"/>
            <a:pathLst>
              <a:path h="830745" w="830745">
                <a:moveTo>
                  <a:pt x="0" y="0"/>
                </a:moveTo>
                <a:lnTo>
                  <a:pt x="830745" y="0"/>
                </a:lnTo>
                <a:lnTo>
                  <a:pt x="830745" y="830744"/>
                </a:lnTo>
                <a:lnTo>
                  <a:pt x="0" y="8307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5014783" y="6909281"/>
            <a:ext cx="5284194" cy="3520594"/>
          </a:xfrm>
          <a:custGeom>
            <a:avLst/>
            <a:gdLst/>
            <a:ahLst/>
            <a:cxnLst/>
            <a:rect r="r" b="b" t="t" l="l"/>
            <a:pathLst>
              <a:path h="3520594" w="5284194">
                <a:moveTo>
                  <a:pt x="0" y="0"/>
                </a:moveTo>
                <a:lnTo>
                  <a:pt x="5284194" y="0"/>
                </a:lnTo>
                <a:lnTo>
                  <a:pt x="5284194" y="3520594"/>
                </a:lnTo>
                <a:lnTo>
                  <a:pt x="0" y="3520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0">
            <a:off x="-1957952" y="-161925"/>
            <a:ext cx="5284194" cy="3520594"/>
          </a:xfrm>
          <a:custGeom>
            <a:avLst/>
            <a:gdLst/>
            <a:ahLst/>
            <a:cxnLst/>
            <a:rect r="r" b="b" t="t" l="l"/>
            <a:pathLst>
              <a:path h="3520594" w="5284194">
                <a:moveTo>
                  <a:pt x="5284194" y="3520594"/>
                </a:moveTo>
                <a:lnTo>
                  <a:pt x="0" y="3520594"/>
                </a:lnTo>
                <a:lnTo>
                  <a:pt x="0" y="0"/>
                </a:lnTo>
                <a:lnTo>
                  <a:pt x="5284194" y="0"/>
                </a:lnTo>
                <a:lnTo>
                  <a:pt x="5284194" y="3520594"/>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Pattern"/>
          <p:cNvSpPr/>
          <p:nvPr/>
        </p:nvSpPr>
        <p:spPr>
          <a:xfrm flipH="false" flipV="true" rot="0">
            <a:off x="-218022" y="8526703"/>
            <a:ext cx="5609143" cy="5609143"/>
          </a:xfrm>
          <a:custGeom>
            <a:avLst/>
            <a:gdLst/>
            <a:ahLst/>
            <a:cxnLst/>
            <a:rect r="r" b="b" t="t" l="l"/>
            <a:pathLst>
              <a:path h="5609143" w="5609143">
                <a:moveTo>
                  <a:pt x="0" y="5609142"/>
                </a:moveTo>
                <a:lnTo>
                  <a:pt x="5609142" y="5609142"/>
                </a:lnTo>
                <a:lnTo>
                  <a:pt x="5609142" y="0"/>
                </a:lnTo>
                <a:lnTo>
                  <a:pt x="0" y="0"/>
                </a:lnTo>
                <a:lnTo>
                  <a:pt x="0" y="5609142"/>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21188" y="3924949"/>
            <a:ext cx="4337798" cy="4350367"/>
            <a:chOff x="0" y="0"/>
            <a:chExt cx="812800" cy="815155"/>
          </a:xfrm>
        </p:grpSpPr>
        <p:sp>
          <p:nvSpPr>
            <p:cNvPr name="Freeform 4" id="4"/>
            <p:cNvSpPr/>
            <p:nvPr/>
          </p:nvSpPr>
          <p:spPr>
            <a:xfrm flipH="false" flipV="false" rot="0">
              <a:off x="0" y="0"/>
              <a:ext cx="812800" cy="815155"/>
            </a:xfrm>
            <a:custGeom>
              <a:avLst/>
              <a:gdLst/>
              <a:ahLst/>
              <a:cxnLst/>
              <a:rect r="r" b="b" t="t" l="l"/>
              <a:pathLst>
                <a:path h="815155" w="812800">
                  <a:moveTo>
                    <a:pt x="0" y="0"/>
                  </a:moveTo>
                  <a:lnTo>
                    <a:pt x="812800" y="0"/>
                  </a:lnTo>
                  <a:lnTo>
                    <a:pt x="812800" y="815155"/>
                  </a:lnTo>
                  <a:lnTo>
                    <a:pt x="0" y="815155"/>
                  </a:lnTo>
                  <a:close/>
                </a:path>
              </a:pathLst>
            </a:custGeom>
            <a:blipFill>
              <a:blip r:embed="rId4"/>
              <a:stretch>
                <a:fillRect l="-25123" t="0" r="-25123" b="0"/>
              </a:stretch>
            </a:blipFill>
          </p:spPr>
        </p:sp>
      </p:grpSp>
      <p:sp>
        <p:nvSpPr>
          <p:cNvPr name="TextBox 5" id="5"/>
          <p:cNvSpPr txBox="true"/>
          <p:nvPr/>
        </p:nvSpPr>
        <p:spPr>
          <a:xfrm rot="0">
            <a:off x="7494277" y="108852"/>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01</a:t>
            </a:r>
          </a:p>
        </p:txBody>
      </p:sp>
      <p:sp>
        <p:nvSpPr>
          <p:cNvPr name="TextBox 6" id="6"/>
          <p:cNvSpPr txBox="true"/>
          <p:nvPr/>
        </p:nvSpPr>
        <p:spPr>
          <a:xfrm rot="0">
            <a:off x="7494277" y="1624778"/>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02</a:t>
            </a:r>
          </a:p>
        </p:txBody>
      </p:sp>
      <p:sp>
        <p:nvSpPr>
          <p:cNvPr name="TextBox 7" id="7"/>
          <p:cNvSpPr txBox="true"/>
          <p:nvPr/>
        </p:nvSpPr>
        <p:spPr>
          <a:xfrm rot="0">
            <a:off x="7494277" y="3140705"/>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03</a:t>
            </a:r>
          </a:p>
        </p:txBody>
      </p:sp>
      <p:sp>
        <p:nvSpPr>
          <p:cNvPr name="TextBox 8" id="8"/>
          <p:cNvSpPr txBox="true"/>
          <p:nvPr/>
        </p:nvSpPr>
        <p:spPr>
          <a:xfrm rot="0">
            <a:off x="7494277" y="4656631"/>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04</a:t>
            </a:r>
          </a:p>
        </p:txBody>
      </p:sp>
      <p:sp>
        <p:nvSpPr>
          <p:cNvPr name="TextBox 9" id="9"/>
          <p:cNvSpPr txBox="true"/>
          <p:nvPr/>
        </p:nvSpPr>
        <p:spPr>
          <a:xfrm rot="0">
            <a:off x="7494277" y="6172558"/>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05</a:t>
            </a:r>
          </a:p>
        </p:txBody>
      </p:sp>
      <p:sp>
        <p:nvSpPr>
          <p:cNvPr name="TextBox 10" id="10"/>
          <p:cNvSpPr txBox="true"/>
          <p:nvPr/>
        </p:nvSpPr>
        <p:spPr>
          <a:xfrm rot="0">
            <a:off x="7494277" y="7688485"/>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06</a:t>
            </a:r>
          </a:p>
        </p:txBody>
      </p:sp>
      <p:sp>
        <p:nvSpPr>
          <p:cNvPr name="TextBox 11" id="11"/>
          <p:cNvSpPr txBox="true"/>
          <p:nvPr/>
        </p:nvSpPr>
        <p:spPr>
          <a:xfrm rot="0">
            <a:off x="9101579" y="4698439"/>
            <a:ext cx="8307362" cy="107696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Biến</a:t>
            </a:r>
            <a:r>
              <a:rPr lang="en-US" sz="2199">
                <a:solidFill>
                  <a:srgbClr val="0D747A"/>
                </a:solidFill>
                <a:latin typeface="Open Sans 2"/>
                <a:ea typeface="Open Sans 2"/>
                <a:cs typeface="Open Sans 2"/>
                <a:sym typeface="Open Sans 2"/>
              </a:rPr>
              <a:t> đổi dữ liệu (Data transformation): Chuyển đổi dữ liệu sang dạng phù hợp cho bước khai phá tiếp theo (ví dụ: chuẩn hóa, chiếu xuống thuộc tính, ghép nhóm).</a:t>
            </a:r>
          </a:p>
        </p:txBody>
      </p:sp>
      <p:sp>
        <p:nvSpPr>
          <p:cNvPr name="TextBox 12" id="12"/>
          <p:cNvSpPr txBox="true"/>
          <p:nvPr/>
        </p:nvSpPr>
        <p:spPr>
          <a:xfrm rot="0">
            <a:off x="9101579" y="274269"/>
            <a:ext cx="8306627" cy="71501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Làm sạch dữ liệu (Data cleaning &amp; preprocessing): Loại bỏ các dữ liệu nhiễu, trùng lặp hoặc không cần thiết. </a:t>
            </a:r>
          </a:p>
        </p:txBody>
      </p:sp>
      <p:sp>
        <p:nvSpPr>
          <p:cNvPr name="Freeform 13" id="13"/>
          <p:cNvSpPr/>
          <p:nvPr/>
        </p:nvSpPr>
        <p:spPr>
          <a:xfrm flipH="false" flipV="false" rot="0">
            <a:off x="14766843" y="6783610"/>
            <a:ext cx="5284194" cy="3520594"/>
          </a:xfrm>
          <a:custGeom>
            <a:avLst/>
            <a:gdLst/>
            <a:ahLst/>
            <a:cxnLst/>
            <a:rect r="r" b="b" t="t" l="l"/>
            <a:pathLst>
              <a:path h="3520594" w="5284194">
                <a:moveTo>
                  <a:pt x="0" y="0"/>
                </a:moveTo>
                <a:lnTo>
                  <a:pt x="5284195" y="0"/>
                </a:lnTo>
                <a:lnTo>
                  <a:pt x="5284195" y="3520594"/>
                </a:lnTo>
                <a:lnTo>
                  <a:pt x="0" y="3520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9101579" y="6416579"/>
            <a:ext cx="8307362" cy="71501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Khai</a:t>
            </a:r>
            <a:r>
              <a:rPr lang="en-US" sz="2199">
                <a:solidFill>
                  <a:srgbClr val="0D747A"/>
                </a:solidFill>
                <a:latin typeface="Open Sans 2"/>
                <a:ea typeface="Open Sans 2"/>
                <a:cs typeface="Open Sans 2"/>
                <a:sym typeface="Open Sans 2"/>
              </a:rPr>
              <a:t> phá dữ liệu (Data mining): Áp dụng các thuật toán thông minh để khám phá các mô hình, quy luật có giá trị từ dữ liệu</a:t>
            </a:r>
          </a:p>
        </p:txBody>
      </p:sp>
      <p:sp>
        <p:nvSpPr>
          <p:cNvPr name="TextBox 15" id="15"/>
          <p:cNvSpPr txBox="true"/>
          <p:nvPr/>
        </p:nvSpPr>
        <p:spPr>
          <a:xfrm rot="0">
            <a:off x="9101579" y="1630459"/>
            <a:ext cx="8306627" cy="107696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Tích</a:t>
            </a:r>
            <a:r>
              <a:rPr lang="en-US" sz="2199">
                <a:solidFill>
                  <a:srgbClr val="0D747A"/>
                </a:solidFill>
                <a:latin typeface="Open Sans 2"/>
                <a:ea typeface="Open Sans 2"/>
                <a:cs typeface="Open Sans 2"/>
                <a:sym typeface="Open Sans 2"/>
              </a:rPr>
              <a:t> hợp dữ liệu (Data integration): Kết hợp dữ liệu từ các nguồn khác nhau (kho dữ liệu, data marts) sau khi đã làm sạch và tiền xử lý. </a:t>
            </a:r>
          </a:p>
        </p:txBody>
      </p:sp>
      <p:sp>
        <p:nvSpPr>
          <p:cNvPr name="TextBox 16" id="16"/>
          <p:cNvSpPr txBox="true"/>
          <p:nvPr/>
        </p:nvSpPr>
        <p:spPr>
          <a:xfrm rot="0">
            <a:off x="9101579" y="7769594"/>
            <a:ext cx="8307362" cy="107696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Đánh</a:t>
            </a:r>
            <a:r>
              <a:rPr lang="en-US" sz="2199">
                <a:solidFill>
                  <a:srgbClr val="0D747A"/>
                </a:solidFill>
                <a:latin typeface="Open Sans 2"/>
                <a:ea typeface="Open Sans 2"/>
                <a:cs typeface="Open Sans 2"/>
                <a:sym typeface="Open Sans 2"/>
              </a:rPr>
              <a:t> giá mẫu (Knowledge evaluation): Đánh giá các kết quả khai phá bằng các tiêu chí phù hợp để chọn ra các quy tắc, mô hình hữu ích. </a:t>
            </a:r>
          </a:p>
        </p:txBody>
      </p:sp>
      <p:sp>
        <p:nvSpPr>
          <p:cNvPr name="TextBox 17" id="17"/>
          <p:cNvSpPr txBox="true"/>
          <p:nvPr/>
        </p:nvSpPr>
        <p:spPr>
          <a:xfrm rot="0">
            <a:off x="9101579" y="3164449"/>
            <a:ext cx="8306627" cy="107696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Trích</a:t>
            </a:r>
            <a:r>
              <a:rPr lang="en-US" sz="2199">
                <a:solidFill>
                  <a:srgbClr val="0D747A"/>
                </a:solidFill>
                <a:latin typeface="Open Sans 2"/>
                <a:ea typeface="Open Sans 2"/>
                <a:cs typeface="Open Sans 2"/>
                <a:sym typeface="Open Sans 2"/>
              </a:rPr>
              <a:t> chọn dữ liệu (Data selection): Lọc và trích xuất một tập con dữ liệu phù hợp từ kho dữ liệu để phân tích tiếp, đồng thời xử lý các giá trị thiếu hoặc nhiễu.</a:t>
            </a:r>
          </a:p>
        </p:txBody>
      </p:sp>
      <p:sp>
        <p:nvSpPr>
          <p:cNvPr name="TextBox 18" id="18"/>
          <p:cNvSpPr txBox="true"/>
          <p:nvPr/>
        </p:nvSpPr>
        <p:spPr>
          <a:xfrm rot="0">
            <a:off x="551504" y="653148"/>
            <a:ext cx="6942773" cy="2914650"/>
          </a:xfrm>
          <a:prstGeom prst="rect">
            <a:avLst/>
          </a:prstGeom>
        </p:spPr>
        <p:txBody>
          <a:bodyPr anchor="t" rtlCol="false" tIns="0" lIns="0" bIns="0" rIns="0">
            <a:spAutoFit/>
          </a:bodyPr>
          <a:lstStyle/>
          <a:p>
            <a:pPr algn="l" marL="0" indent="0" lvl="0">
              <a:lnSpc>
                <a:spcPts val="11519"/>
              </a:lnSpc>
            </a:pPr>
            <a:r>
              <a:rPr lang="en-US" b="true" sz="9600" u="none">
                <a:solidFill>
                  <a:srgbClr val="0D747A"/>
                </a:solidFill>
                <a:latin typeface="Open Sans 2 Bold"/>
                <a:ea typeface="Open Sans 2 Bold"/>
                <a:cs typeface="Open Sans 2 Bold"/>
                <a:sym typeface="Open Sans 2 Bold"/>
              </a:rPr>
              <a:t>Khai phá dữ liệu</a:t>
            </a:r>
          </a:p>
        </p:txBody>
      </p:sp>
      <p:sp>
        <p:nvSpPr>
          <p:cNvPr name="TextBox 19" id="19"/>
          <p:cNvSpPr txBox="true"/>
          <p:nvPr/>
        </p:nvSpPr>
        <p:spPr>
          <a:xfrm rot="0">
            <a:off x="7494277" y="9016098"/>
            <a:ext cx="1607302" cy="1152525"/>
          </a:xfrm>
          <a:prstGeom prst="rect">
            <a:avLst/>
          </a:prstGeom>
        </p:spPr>
        <p:txBody>
          <a:bodyPr anchor="t" rtlCol="false" tIns="0" lIns="0" bIns="0" rIns="0">
            <a:spAutoFit/>
          </a:bodyPr>
          <a:lstStyle/>
          <a:p>
            <a:pPr algn="l">
              <a:lnSpc>
                <a:spcPts val="9000"/>
              </a:lnSpc>
            </a:pPr>
            <a:r>
              <a:rPr lang="en-US" b="true" sz="7500">
                <a:solidFill>
                  <a:srgbClr val="0D747A"/>
                </a:solidFill>
                <a:latin typeface="Open Sans 2 Bold"/>
                <a:ea typeface="Open Sans 2 Bold"/>
                <a:cs typeface="Open Sans 2 Bold"/>
                <a:sym typeface="Open Sans 2 Bold"/>
              </a:rPr>
              <a:t>07</a:t>
            </a:r>
          </a:p>
        </p:txBody>
      </p:sp>
      <p:sp>
        <p:nvSpPr>
          <p:cNvPr name="TextBox 20" id="20"/>
          <p:cNvSpPr txBox="true"/>
          <p:nvPr/>
        </p:nvSpPr>
        <p:spPr>
          <a:xfrm rot="0">
            <a:off x="9101579" y="9097208"/>
            <a:ext cx="8307362" cy="1076960"/>
          </a:xfrm>
          <a:prstGeom prst="rect">
            <a:avLst/>
          </a:prstGeom>
        </p:spPr>
        <p:txBody>
          <a:bodyPr anchor="t" rtlCol="false" tIns="0" lIns="0" bIns="0" rIns="0">
            <a:spAutoFit/>
          </a:bodyPr>
          <a:lstStyle/>
          <a:p>
            <a:pPr algn="l" marL="0" indent="0" lvl="0">
              <a:lnSpc>
                <a:spcPts val="2859"/>
              </a:lnSpc>
            </a:pPr>
            <a:r>
              <a:rPr lang="en-US" sz="2199">
                <a:solidFill>
                  <a:srgbClr val="0D747A"/>
                </a:solidFill>
                <a:latin typeface="Open Sans 2"/>
                <a:ea typeface="Open Sans 2"/>
                <a:cs typeface="Open Sans 2"/>
                <a:sym typeface="Open Sans 2"/>
              </a:rPr>
              <a:t>T</a:t>
            </a:r>
            <a:r>
              <a:rPr lang="en-US" sz="2199">
                <a:solidFill>
                  <a:srgbClr val="0D747A"/>
                </a:solidFill>
                <a:latin typeface="Open Sans 2"/>
                <a:ea typeface="Open Sans 2"/>
                <a:cs typeface="Open Sans 2"/>
                <a:sym typeface="Open Sans 2"/>
              </a:rPr>
              <a:t>rình bày tri thức (Knowledge presentation): Sử dụng các kỹ thuật trực quan hóa (biểu đồ, báo cáo, …) để thể hiện kết quả sao cho người dùng cuối có thể hiểu và áp dụng.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TextBox 2" id="2"/>
          <p:cNvSpPr txBox="true"/>
          <p:nvPr/>
        </p:nvSpPr>
        <p:spPr>
          <a:xfrm rot="0">
            <a:off x="629393" y="2053417"/>
            <a:ext cx="16249940" cy="905649"/>
          </a:xfrm>
          <a:prstGeom prst="rect">
            <a:avLst/>
          </a:prstGeom>
        </p:spPr>
        <p:txBody>
          <a:bodyPr anchor="t" rtlCol="false" tIns="0" lIns="0" bIns="0" rIns="0">
            <a:spAutoFit/>
          </a:bodyPr>
          <a:lstStyle/>
          <a:p>
            <a:pPr algn="ctr">
              <a:lnSpc>
                <a:spcPts val="6834"/>
              </a:lnSpc>
            </a:pPr>
            <a:r>
              <a:rPr lang="en-US" b="true" sz="6700">
                <a:solidFill>
                  <a:srgbClr val="0D747A"/>
                </a:solidFill>
                <a:latin typeface="Open Sans 1 Bold"/>
                <a:ea typeface="Open Sans 1 Bold"/>
                <a:cs typeface="Open Sans 1 Bold"/>
                <a:sym typeface="Open Sans 1 Bold"/>
              </a:rPr>
              <a:t>Các hướng chính của khai phá dữ liệu</a:t>
            </a:r>
          </a:p>
        </p:txBody>
      </p:sp>
      <p:sp>
        <p:nvSpPr>
          <p:cNvPr name="Freeform 3" id="3"/>
          <p:cNvSpPr/>
          <p:nvPr/>
        </p:nvSpPr>
        <p:spPr>
          <a:xfrm flipH="false" flipV="false" rot="0">
            <a:off x="9927464" y="7765767"/>
            <a:ext cx="627574" cy="634715"/>
          </a:xfrm>
          <a:custGeom>
            <a:avLst/>
            <a:gdLst/>
            <a:ahLst/>
            <a:cxnLst/>
            <a:rect r="r" b="b" t="t" l="l"/>
            <a:pathLst>
              <a:path h="634715" w="627574">
                <a:moveTo>
                  <a:pt x="0" y="0"/>
                </a:moveTo>
                <a:lnTo>
                  <a:pt x="627574" y="0"/>
                </a:lnTo>
                <a:lnTo>
                  <a:pt x="627574" y="634715"/>
                </a:lnTo>
                <a:lnTo>
                  <a:pt x="0" y="6347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477537" y="3580356"/>
            <a:ext cx="6075584" cy="425577"/>
          </a:xfrm>
          <a:prstGeom prst="rect">
            <a:avLst/>
          </a:prstGeom>
        </p:spPr>
        <p:txBody>
          <a:bodyPr anchor="t" rtlCol="false" tIns="0" lIns="0" bIns="0" rIns="0">
            <a:spAutoFit/>
          </a:bodyPr>
          <a:lstStyle/>
          <a:p>
            <a:pPr algn="l">
              <a:lnSpc>
                <a:spcPts val="3264"/>
              </a:lnSpc>
            </a:pPr>
            <a:r>
              <a:rPr lang="en-US" sz="3200" b="true">
                <a:solidFill>
                  <a:srgbClr val="0D747A"/>
                </a:solidFill>
                <a:latin typeface="Open Sans 1 Bold"/>
                <a:ea typeface="Open Sans 1 Bold"/>
                <a:cs typeface="Open Sans 1 Bold"/>
                <a:sym typeface="Open Sans 1 Bold"/>
              </a:rPr>
              <a:t>Tập phổ biến và luật kết hợp</a:t>
            </a:r>
          </a:p>
        </p:txBody>
      </p:sp>
      <p:sp>
        <p:nvSpPr>
          <p:cNvPr name="TextBox 5" id="5"/>
          <p:cNvSpPr txBox="true"/>
          <p:nvPr/>
        </p:nvSpPr>
        <p:spPr>
          <a:xfrm rot="0">
            <a:off x="10964141" y="3580356"/>
            <a:ext cx="4230266" cy="425577"/>
          </a:xfrm>
          <a:prstGeom prst="rect">
            <a:avLst/>
          </a:prstGeom>
        </p:spPr>
        <p:txBody>
          <a:bodyPr anchor="t" rtlCol="false" tIns="0" lIns="0" bIns="0" rIns="0">
            <a:spAutoFit/>
          </a:bodyPr>
          <a:lstStyle/>
          <a:p>
            <a:pPr algn="l">
              <a:lnSpc>
                <a:spcPts val="3264"/>
              </a:lnSpc>
            </a:pPr>
            <a:r>
              <a:rPr lang="en-US" sz="3200" b="true">
                <a:solidFill>
                  <a:srgbClr val="0D747A"/>
                </a:solidFill>
                <a:latin typeface="Open Sans 1 Bold"/>
                <a:ea typeface="Open Sans 1 Bold"/>
                <a:cs typeface="Open Sans 1 Bold"/>
                <a:sym typeface="Open Sans 1 Bold"/>
              </a:rPr>
              <a:t>Tập thô (Rough Sets)</a:t>
            </a:r>
          </a:p>
        </p:txBody>
      </p:sp>
      <p:sp>
        <p:nvSpPr>
          <p:cNvPr name="TextBox 6" id="6"/>
          <p:cNvSpPr txBox="true"/>
          <p:nvPr/>
        </p:nvSpPr>
        <p:spPr>
          <a:xfrm rot="0">
            <a:off x="2477537" y="6578209"/>
            <a:ext cx="5566531" cy="425577"/>
          </a:xfrm>
          <a:prstGeom prst="rect">
            <a:avLst/>
          </a:prstGeom>
        </p:spPr>
        <p:txBody>
          <a:bodyPr anchor="t" rtlCol="false" tIns="0" lIns="0" bIns="0" rIns="0">
            <a:spAutoFit/>
          </a:bodyPr>
          <a:lstStyle/>
          <a:p>
            <a:pPr algn="l">
              <a:lnSpc>
                <a:spcPts val="3264"/>
              </a:lnSpc>
            </a:pPr>
            <a:r>
              <a:rPr lang="en-US" sz="3200" b="true">
                <a:solidFill>
                  <a:srgbClr val="0D747A"/>
                </a:solidFill>
                <a:latin typeface="Open Sans 1 Bold"/>
                <a:ea typeface="Open Sans 1 Bold"/>
                <a:cs typeface="Open Sans 1 Bold"/>
                <a:sym typeface="Open Sans 1 Bold"/>
              </a:rPr>
              <a:t>Phân lớp (Classification)</a:t>
            </a:r>
          </a:p>
        </p:txBody>
      </p:sp>
      <p:sp>
        <p:nvSpPr>
          <p:cNvPr name="TextBox 7" id="7"/>
          <p:cNvSpPr txBox="true"/>
          <p:nvPr/>
        </p:nvSpPr>
        <p:spPr>
          <a:xfrm rot="0">
            <a:off x="10964141" y="6578209"/>
            <a:ext cx="5269583" cy="425577"/>
          </a:xfrm>
          <a:prstGeom prst="rect">
            <a:avLst/>
          </a:prstGeom>
        </p:spPr>
        <p:txBody>
          <a:bodyPr anchor="t" rtlCol="false" tIns="0" lIns="0" bIns="0" rIns="0">
            <a:spAutoFit/>
          </a:bodyPr>
          <a:lstStyle/>
          <a:p>
            <a:pPr algn="l">
              <a:lnSpc>
                <a:spcPts val="3264"/>
              </a:lnSpc>
            </a:pPr>
            <a:r>
              <a:rPr lang="en-US" sz="3200" b="true">
                <a:solidFill>
                  <a:srgbClr val="0D747A"/>
                </a:solidFill>
                <a:latin typeface="Open Sans 1 Bold"/>
                <a:ea typeface="Open Sans 1 Bold"/>
                <a:cs typeface="Open Sans 1 Bold"/>
                <a:sym typeface="Open Sans 1 Bold"/>
              </a:rPr>
              <a:t>Gom cụm (Clustering)</a:t>
            </a:r>
          </a:p>
        </p:txBody>
      </p:sp>
      <p:sp>
        <p:nvSpPr>
          <p:cNvPr name="TextBox 8" id="8"/>
          <p:cNvSpPr txBox="true"/>
          <p:nvPr/>
        </p:nvSpPr>
        <p:spPr>
          <a:xfrm rot="0">
            <a:off x="2477537" y="4122010"/>
            <a:ext cx="6666463" cy="1653540"/>
          </a:xfrm>
          <a:prstGeom prst="rect">
            <a:avLst/>
          </a:prstGeom>
        </p:spPr>
        <p:txBody>
          <a:bodyPr anchor="t" rtlCol="false" tIns="0" lIns="0" bIns="0" rIns="0">
            <a:spAutoFit/>
          </a:bodyPr>
          <a:lstStyle/>
          <a:p>
            <a:pPr algn="l">
              <a:lnSpc>
                <a:spcPts val="3359"/>
              </a:lnSpc>
            </a:pPr>
            <a:r>
              <a:rPr lang="en-US" sz="2400">
                <a:solidFill>
                  <a:srgbClr val="0D747A"/>
                </a:solidFill>
                <a:latin typeface="Open Sans 1"/>
                <a:ea typeface="Open Sans 1"/>
                <a:cs typeface="Open Sans 1"/>
                <a:sym typeface="Open Sans 1"/>
              </a:rPr>
              <a:t>Tập trung tìm kiếm các tập mục (itemset) xuất hiện thường xuyên cùng nhau trong cơ sở dữ liệu giao dịch, từ đó sinh ra các quy tắc kết hợp biểu diễn mối quan hệ giữa các mục.</a:t>
            </a:r>
          </a:p>
        </p:txBody>
      </p:sp>
      <p:sp>
        <p:nvSpPr>
          <p:cNvPr name="TextBox 9" id="9"/>
          <p:cNvSpPr txBox="true"/>
          <p:nvPr/>
        </p:nvSpPr>
        <p:spPr>
          <a:xfrm rot="0">
            <a:off x="10964141" y="4122010"/>
            <a:ext cx="7058739" cy="2072640"/>
          </a:xfrm>
          <a:prstGeom prst="rect">
            <a:avLst/>
          </a:prstGeom>
        </p:spPr>
        <p:txBody>
          <a:bodyPr anchor="t" rtlCol="false" tIns="0" lIns="0" bIns="0" rIns="0">
            <a:spAutoFit/>
          </a:bodyPr>
          <a:lstStyle/>
          <a:p>
            <a:pPr algn="l">
              <a:lnSpc>
                <a:spcPts val="3359"/>
              </a:lnSpc>
            </a:pPr>
            <a:r>
              <a:rPr lang="en-US" sz="2400">
                <a:solidFill>
                  <a:srgbClr val="0D747A"/>
                </a:solidFill>
                <a:latin typeface="Open Sans 1"/>
                <a:ea typeface="Open Sans 1"/>
                <a:cs typeface="Open Sans 1"/>
                <a:sym typeface="Open Sans 1"/>
              </a:rPr>
              <a:t>Sử dụng lý thuyết tập thô để giảm thiểu thuộc tính, trích xuất quy luật và xử lý dữ liệu không chắc chắn. Điều này giúp xác định tập con thuộc tính nhỏ nhất vẫn giữ nguyên khả năng phân loại dữ liệu.</a:t>
            </a:r>
          </a:p>
        </p:txBody>
      </p:sp>
      <p:sp>
        <p:nvSpPr>
          <p:cNvPr name="Freeform 10" id="10"/>
          <p:cNvSpPr/>
          <p:nvPr/>
        </p:nvSpPr>
        <p:spPr>
          <a:xfrm flipH="true" flipV="false" rot="0">
            <a:off x="-2012704" y="6874805"/>
            <a:ext cx="5284194" cy="3520594"/>
          </a:xfrm>
          <a:custGeom>
            <a:avLst/>
            <a:gdLst/>
            <a:ahLst/>
            <a:cxnLst/>
            <a:rect r="r" b="b" t="t" l="l"/>
            <a:pathLst>
              <a:path h="3520594" w="5284194">
                <a:moveTo>
                  <a:pt x="5284194" y="0"/>
                </a:moveTo>
                <a:lnTo>
                  <a:pt x="0" y="0"/>
                </a:lnTo>
                <a:lnTo>
                  <a:pt x="0" y="3520595"/>
                </a:lnTo>
                <a:lnTo>
                  <a:pt x="5284194" y="3520595"/>
                </a:lnTo>
                <a:lnTo>
                  <a:pt x="528419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2477537" y="7119862"/>
            <a:ext cx="6666463" cy="2491740"/>
          </a:xfrm>
          <a:prstGeom prst="rect">
            <a:avLst/>
          </a:prstGeom>
        </p:spPr>
        <p:txBody>
          <a:bodyPr anchor="t" rtlCol="false" tIns="0" lIns="0" bIns="0" rIns="0">
            <a:spAutoFit/>
          </a:bodyPr>
          <a:lstStyle/>
          <a:p>
            <a:pPr algn="l">
              <a:lnSpc>
                <a:spcPts val="3359"/>
              </a:lnSpc>
            </a:pPr>
            <a:r>
              <a:rPr lang="en-US" sz="2400">
                <a:solidFill>
                  <a:srgbClr val="0D747A"/>
                </a:solidFill>
                <a:latin typeface="Open Sans 1"/>
                <a:ea typeface="Open Sans 1"/>
                <a:cs typeface="Open Sans 1"/>
                <a:sym typeface="Open Sans 1"/>
              </a:rPr>
              <a:t>Mục tiêu là gán nhãn các đối tượng vào các lớp đã biết trước dựa vào các dữ liệu đầu vào (học có giám sát). Phân loại thường dùng các thuật toán cây quyết định, Naïve Bayes, mạng nơ-ron, ... để dự đoán hoặc xác định nhãn cho đối tượng mới.</a:t>
            </a:r>
          </a:p>
        </p:txBody>
      </p:sp>
      <p:sp>
        <p:nvSpPr>
          <p:cNvPr name="TextBox 12" id="12"/>
          <p:cNvSpPr txBox="true"/>
          <p:nvPr/>
        </p:nvSpPr>
        <p:spPr>
          <a:xfrm rot="0">
            <a:off x="10964141" y="7119862"/>
            <a:ext cx="7058739" cy="1653540"/>
          </a:xfrm>
          <a:prstGeom prst="rect">
            <a:avLst/>
          </a:prstGeom>
        </p:spPr>
        <p:txBody>
          <a:bodyPr anchor="t" rtlCol="false" tIns="0" lIns="0" bIns="0" rIns="0">
            <a:spAutoFit/>
          </a:bodyPr>
          <a:lstStyle/>
          <a:p>
            <a:pPr algn="l">
              <a:lnSpc>
                <a:spcPts val="3359"/>
              </a:lnSpc>
            </a:pPr>
            <a:r>
              <a:rPr lang="en-US" sz="2400">
                <a:solidFill>
                  <a:srgbClr val="0D747A"/>
                </a:solidFill>
                <a:latin typeface="Open Sans 1"/>
                <a:ea typeface="Open Sans 1"/>
                <a:cs typeface="Open Sans 1"/>
                <a:sym typeface="Open Sans 1"/>
              </a:rPr>
              <a:t>Nhóm các đối tượng thành các cụm sao cho đối tượng trong cùng cụm giống nhau hơn và khác với đối tượng ở cụm khác. Đây là bài toán học không giám sát (không có nhãn sẵn).</a:t>
            </a:r>
          </a:p>
        </p:txBody>
      </p:sp>
      <p:sp>
        <p:nvSpPr>
          <p:cNvPr name="Freeform 13" id="13"/>
          <p:cNvSpPr/>
          <p:nvPr/>
        </p:nvSpPr>
        <p:spPr>
          <a:xfrm flipH="false" flipV="false" rot="0">
            <a:off x="9899806" y="3349198"/>
            <a:ext cx="830745" cy="830745"/>
          </a:xfrm>
          <a:custGeom>
            <a:avLst/>
            <a:gdLst/>
            <a:ahLst/>
            <a:cxnLst/>
            <a:rect r="r" b="b" t="t" l="l"/>
            <a:pathLst>
              <a:path h="830745" w="830745">
                <a:moveTo>
                  <a:pt x="0" y="0"/>
                </a:moveTo>
                <a:lnTo>
                  <a:pt x="830745" y="0"/>
                </a:lnTo>
                <a:lnTo>
                  <a:pt x="830745" y="830744"/>
                </a:lnTo>
                <a:lnTo>
                  <a:pt x="0" y="8307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9899806" y="6347050"/>
            <a:ext cx="830745" cy="830745"/>
          </a:xfrm>
          <a:custGeom>
            <a:avLst/>
            <a:gdLst/>
            <a:ahLst/>
            <a:cxnLst/>
            <a:rect r="r" b="b" t="t" l="l"/>
            <a:pathLst>
              <a:path h="830745" w="830745">
                <a:moveTo>
                  <a:pt x="0" y="0"/>
                </a:moveTo>
                <a:lnTo>
                  <a:pt x="830745" y="0"/>
                </a:lnTo>
                <a:lnTo>
                  <a:pt x="830745" y="830745"/>
                </a:lnTo>
                <a:lnTo>
                  <a:pt x="0" y="8307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408667" y="3349198"/>
            <a:ext cx="830745" cy="830745"/>
          </a:xfrm>
          <a:custGeom>
            <a:avLst/>
            <a:gdLst/>
            <a:ahLst/>
            <a:cxnLst/>
            <a:rect r="r" b="b" t="t" l="l"/>
            <a:pathLst>
              <a:path h="830745" w="830745">
                <a:moveTo>
                  <a:pt x="0" y="0"/>
                </a:moveTo>
                <a:lnTo>
                  <a:pt x="830745" y="0"/>
                </a:lnTo>
                <a:lnTo>
                  <a:pt x="830745" y="830744"/>
                </a:lnTo>
                <a:lnTo>
                  <a:pt x="0" y="8307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408667" y="6459433"/>
            <a:ext cx="830745" cy="830745"/>
          </a:xfrm>
          <a:custGeom>
            <a:avLst/>
            <a:gdLst/>
            <a:ahLst/>
            <a:cxnLst/>
            <a:rect r="r" b="b" t="t" l="l"/>
            <a:pathLst>
              <a:path h="830745" w="830745">
                <a:moveTo>
                  <a:pt x="0" y="0"/>
                </a:moveTo>
                <a:lnTo>
                  <a:pt x="830745" y="0"/>
                </a:lnTo>
                <a:lnTo>
                  <a:pt x="830745" y="830745"/>
                </a:lnTo>
                <a:lnTo>
                  <a:pt x="0" y="8307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true" rot="0">
            <a:off x="15006985" y="-171397"/>
            <a:ext cx="5284194" cy="3520594"/>
          </a:xfrm>
          <a:custGeom>
            <a:avLst/>
            <a:gdLst/>
            <a:ahLst/>
            <a:cxnLst/>
            <a:rect r="r" b="b" t="t" l="l"/>
            <a:pathLst>
              <a:path h="3520594" w="5284194">
                <a:moveTo>
                  <a:pt x="0" y="3520595"/>
                </a:moveTo>
                <a:lnTo>
                  <a:pt x="5284194" y="3520595"/>
                </a:lnTo>
                <a:lnTo>
                  <a:pt x="5284194" y="0"/>
                </a:lnTo>
                <a:lnTo>
                  <a:pt x="0" y="0"/>
                </a:lnTo>
                <a:lnTo>
                  <a:pt x="0" y="352059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0" y="-3848845"/>
            <a:ext cx="5609143" cy="5609143"/>
          </a:xfrm>
          <a:custGeom>
            <a:avLst/>
            <a:gdLst/>
            <a:ahLst/>
            <a:cxnLst/>
            <a:rect r="r" b="b" t="t" l="l"/>
            <a:pathLst>
              <a:path h="5609143" w="5609143">
                <a:moveTo>
                  <a:pt x="0" y="0"/>
                </a:moveTo>
                <a:lnTo>
                  <a:pt x="5609143" y="0"/>
                </a:lnTo>
                <a:lnTo>
                  <a:pt x="5609143" y="5609142"/>
                </a:lnTo>
                <a:lnTo>
                  <a:pt x="0" y="560914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true" flipV="true" rot="0">
            <a:off x="12678857" y="8928965"/>
            <a:ext cx="5609143" cy="5609143"/>
          </a:xfrm>
          <a:custGeom>
            <a:avLst/>
            <a:gdLst/>
            <a:ahLst/>
            <a:cxnLst/>
            <a:rect r="r" b="b" t="t" l="l"/>
            <a:pathLst>
              <a:path h="5609143" w="5609143">
                <a:moveTo>
                  <a:pt x="5609143" y="5609143"/>
                </a:moveTo>
                <a:lnTo>
                  <a:pt x="0" y="5609143"/>
                </a:lnTo>
                <a:lnTo>
                  <a:pt x="0" y="0"/>
                </a:lnTo>
                <a:lnTo>
                  <a:pt x="5609143" y="0"/>
                </a:lnTo>
                <a:lnTo>
                  <a:pt x="5609143" y="5609143"/>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Shape Element"/>
          <p:cNvSpPr/>
          <p:nvPr/>
        </p:nvSpPr>
        <p:spPr>
          <a:xfrm flipH="false" flipV="false" rot="0">
            <a:off x="-2797494" y="4516412"/>
            <a:ext cx="7275937" cy="7275937"/>
          </a:xfrm>
          <a:custGeom>
            <a:avLst/>
            <a:gdLst/>
            <a:ahLst/>
            <a:cxnLst/>
            <a:rect r="r" b="b" t="t" l="l"/>
            <a:pathLst>
              <a:path h="7275937" w="7275937">
                <a:moveTo>
                  <a:pt x="0" y="0"/>
                </a:moveTo>
                <a:lnTo>
                  <a:pt x="7275936" y="0"/>
                </a:lnTo>
                <a:lnTo>
                  <a:pt x="7275936" y="7275937"/>
                </a:lnTo>
                <a:lnTo>
                  <a:pt x="0" y="72759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descr="Abstract Bauhaus Shape"/>
          <p:cNvSpPr/>
          <p:nvPr/>
        </p:nvSpPr>
        <p:spPr>
          <a:xfrm flipH="false" flipV="true" rot="0">
            <a:off x="15016510" y="-142875"/>
            <a:ext cx="5284194" cy="3520594"/>
          </a:xfrm>
          <a:custGeom>
            <a:avLst/>
            <a:gdLst/>
            <a:ahLst/>
            <a:cxnLst/>
            <a:rect r="r" b="b" t="t" l="l"/>
            <a:pathLst>
              <a:path h="3520594" w="5284194">
                <a:moveTo>
                  <a:pt x="0" y="3520594"/>
                </a:moveTo>
                <a:lnTo>
                  <a:pt x="5284194" y="3520594"/>
                </a:lnTo>
                <a:lnTo>
                  <a:pt x="5284194" y="0"/>
                </a:lnTo>
                <a:lnTo>
                  <a:pt x="0" y="0"/>
                </a:lnTo>
                <a:lnTo>
                  <a:pt x="0" y="3520594"/>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0" y="0"/>
            <a:ext cx="4091254" cy="10287000"/>
            <a:chOff x="0" y="0"/>
            <a:chExt cx="478149" cy="1202252"/>
          </a:xfrm>
        </p:grpSpPr>
        <p:sp>
          <p:nvSpPr>
            <p:cNvPr name="Freeform 5" id="5"/>
            <p:cNvSpPr/>
            <p:nvPr/>
          </p:nvSpPr>
          <p:spPr>
            <a:xfrm flipH="false" flipV="false" rot="0">
              <a:off x="0" y="0"/>
              <a:ext cx="478149" cy="1202252"/>
            </a:xfrm>
            <a:custGeom>
              <a:avLst/>
              <a:gdLst/>
              <a:ahLst/>
              <a:cxnLst/>
              <a:rect r="r" b="b" t="t" l="l"/>
              <a:pathLst>
                <a:path h="1202252" w="478149">
                  <a:moveTo>
                    <a:pt x="0" y="0"/>
                  </a:moveTo>
                  <a:lnTo>
                    <a:pt x="478149" y="0"/>
                  </a:lnTo>
                  <a:lnTo>
                    <a:pt x="478149" y="1202252"/>
                  </a:lnTo>
                  <a:lnTo>
                    <a:pt x="0" y="1202252"/>
                  </a:lnTo>
                  <a:close/>
                </a:path>
              </a:pathLst>
            </a:custGeom>
            <a:blipFill>
              <a:blip r:embed="rId6"/>
              <a:stretch>
                <a:fillRect l="0" t="-1273" r="0" b="-1273"/>
              </a:stretch>
            </a:blipFill>
          </p:spPr>
        </p:sp>
      </p:grpSp>
      <p:sp>
        <p:nvSpPr>
          <p:cNvPr name="AutoShape 6" id="6"/>
          <p:cNvSpPr/>
          <p:nvPr/>
        </p:nvSpPr>
        <p:spPr>
          <a:xfrm>
            <a:off x="5291216" y="2642510"/>
            <a:ext cx="9725294" cy="0"/>
          </a:xfrm>
          <a:prstGeom prst="line">
            <a:avLst/>
          </a:prstGeom>
          <a:ln cap="flat" w="38100">
            <a:solidFill>
              <a:srgbClr val="D62828"/>
            </a:solidFill>
            <a:prstDash val="solid"/>
            <a:headEnd type="none" len="sm" w="sm"/>
            <a:tailEnd type="none" len="sm" w="sm"/>
          </a:ln>
        </p:spPr>
      </p:sp>
      <p:sp>
        <p:nvSpPr>
          <p:cNvPr name="TextBox 7" id="7"/>
          <p:cNvSpPr txBox="true"/>
          <p:nvPr/>
        </p:nvSpPr>
        <p:spPr>
          <a:xfrm rot="0">
            <a:off x="5291216" y="790348"/>
            <a:ext cx="9316677" cy="1804035"/>
          </a:xfrm>
          <a:prstGeom prst="rect">
            <a:avLst/>
          </a:prstGeom>
        </p:spPr>
        <p:txBody>
          <a:bodyPr anchor="t" rtlCol="false" tIns="0" lIns="0" bIns="0" rIns="0">
            <a:spAutoFit/>
          </a:bodyPr>
          <a:lstStyle/>
          <a:p>
            <a:pPr algn="l" marL="0" indent="0" lvl="0">
              <a:lnSpc>
                <a:spcPts val="7034"/>
              </a:lnSpc>
            </a:pPr>
            <a:r>
              <a:rPr lang="en-US" b="true" sz="6699">
                <a:solidFill>
                  <a:srgbClr val="0D747A"/>
                </a:solidFill>
                <a:latin typeface="Open Sans 2 Bold"/>
                <a:ea typeface="Open Sans 2 Bold"/>
                <a:cs typeface="Open Sans 2 Bold"/>
                <a:sym typeface="Open Sans 2 Bold"/>
              </a:rPr>
              <a:t>Cấu trú</a:t>
            </a:r>
            <a:r>
              <a:rPr lang="en-US" b="true" sz="6699">
                <a:solidFill>
                  <a:srgbClr val="0D747A"/>
                </a:solidFill>
                <a:latin typeface="Open Sans 2 Bold"/>
                <a:ea typeface="Open Sans 2 Bold"/>
                <a:cs typeface="Open Sans 2 Bold"/>
                <a:sym typeface="Open Sans 2 Bold"/>
              </a:rPr>
              <a:t>c triển khai theo mô hình MVC</a:t>
            </a:r>
          </a:p>
        </p:txBody>
      </p:sp>
      <p:grpSp>
        <p:nvGrpSpPr>
          <p:cNvPr name="Group 8" id="8"/>
          <p:cNvGrpSpPr/>
          <p:nvPr/>
        </p:nvGrpSpPr>
        <p:grpSpPr>
          <a:xfrm rot="0">
            <a:off x="5291216" y="2883028"/>
            <a:ext cx="9725294" cy="1875790"/>
            <a:chOff x="0" y="0"/>
            <a:chExt cx="12967059" cy="2501053"/>
          </a:xfrm>
        </p:grpSpPr>
        <p:sp>
          <p:nvSpPr>
            <p:cNvPr name="TextBox 9" id="9"/>
            <p:cNvSpPr txBox="true"/>
            <p:nvPr/>
          </p:nvSpPr>
          <p:spPr>
            <a:xfrm rot="0">
              <a:off x="0" y="-47625"/>
              <a:ext cx="12967059" cy="547158"/>
            </a:xfrm>
            <a:prstGeom prst="rect">
              <a:avLst/>
            </a:prstGeom>
          </p:spPr>
          <p:txBody>
            <a:bodyPr anchor="t" rtlCol="false" tIns="0" lIns="0" bIns="0" rIns="0">
              <a:spAutoFit/>
            </a:bodyPr>
            <a:lstStyle/>
            <a:p>
              <a:pPr algn="l" marL="0" indent="0" lvl="0">
                <a:lnSpc>
                  <a:spcPts val="3499"/>
                </a:lnSpc>
              </a:pPr>
              <a:r>
                <a:rPr lang="en-US" b="true" sz="2499">
                  <a:solidFill>
                    <a:srgbClr val="0D747A"/>
                  </a:solidFill>
                  <a:latin typeface="Open Sans 2 Bold"/>
                  <a:ea typeface="Open Sans 2 Bold"/>
                  <a:cs typeface="Open Sans 2 Bold"/>
                  <a:sym typeface="Open Sans 2 Bold"/>
                </a:rPr>
                <a:t>Model</a:t>
              </a:r>
            </a:p>
          </p:txBody>
        </p:sp>
        <p:sp>
          <p:nvSpPr>
            <p:cNvPr name="TextBox 10" id="10"/>
            <p:cNvSpPr txBox="true"/>
            <p:nvPr/>
          </p:nvSpPr>
          <p:spPr>
            <a:xfrm rot="0">
              <a:off x="0" y="867833"/>
              <a:ext cx="12967059" cy="1633220"/>
            </a:xfrm>
            <a:prstGeom prst="rect">
              <a:avLst/>
            </a:prstGeom>
          </p:spPr>
          <p:txBody>
            <a:bodyPr anchor="t" rtlCol="false" tIns="0" lIns="0" bIns="0" rIns="0">
              <a:spAutoFit/>
            </a:bodyPr>
            <a:lstStyle/>
            <a:p>
              <a:pPr algn="l" marL="0" indent="0" lvl="0">
                <a:lnSpc>
                  <a:spcPts val="3359"/>
                </a:lnSpc>
              </a:pPr>
              <a:r>
                <a:rPr lang="en-US" sz="2400">
                  <a:solidFill>
                    <a:srgbClr val="0D747A"/>
                  </a:solidFill>
                  <a:latin typeface="Open Sans 2"/>
                  <a:ea typeface="Open Sans 2"/>
                  <a:cs typeface="Open Sans 2"/>
                  <a:sym typeface="Open Sans 2"/>
                </a:rPr>
                <a:t>Quản</a:t>
              </a:r>
              <a:r>
                <a:rPr lang="en-US" sz="2400">
                  <a:solidFill>
                    <a:srgbClr val="0D747A"/>
                  </a:solidFill>
                  <a:latin typeface="Open Sans 2"/>
                  <a:ea typeface="Open Sans 2"/>
                  <a:cs typeface="Open Sans 2"/>
                  <a:sym typeface="Open Sans 2"/>
                </a:rPr>
                <a:t> lý logic xử lý dữ liệu và triển khai các thuật toán học máy. Tập trung vào phép tính và thao tác trên dữ liệu, không phụ thuộc vào giao diện.</a:t>
              </a:r>
            </a:p>
          </p:txBody>
        </p:sp>
      </p:grpSp>
      <p:grpSp>
        <p:nvGrpSpPr>
          <p:cNvPr name="Group 11" id="11"/>
          <p:cNvGrpSpPr/>
          <p:nvPr/>
        </p:nvGrpSpPr>
        <p:grpSpPr>
          <a:xfrm rot="0">
            <a:off x="5291216" y="4997437"/>
            <a:ext cx="9725294" cy="1875790"/>
            <a:chOff x="0" y="0"/>
            <a:chExt cx="12967059" cy="2501053"/>
          </a:xfrm>
        </p:grpSpPr>
        <p:sp>
          <p:nvSpPr>
            <p:cNvPr name="TextBox 12" id="12"/>
            <p:cNvSpPr txBox="true"/>
            <p:nvPr/>
          </p:nvSpPr>
          <p:spPr>
            <a:xfrm rot="0">
              <a:off x="0" y="-47625"/>
              <a:ext cx="12967059" cy="547158"/>
            </a:xfrm>
            <a:prstGeom prst="rect">
              <a:avLst/>
            </a:prstGeom>
          </p:spPr>
          <p:txBody>
            <a:bodyPr anchor="t" rtlCol="false" tIns="0" lIns="0" bIns="0" rIns="0">
              <a:spAutoFit/>
            </a:bodyPr>
            <a:lstStyle/>
            <a:p>
              <a:pPr algn="l" marL="0" indent="0" lvl="0">
                <a:lnSpc>
                  <a:spcPts val="3499"/>
                </a:lnSpc>
              </a:pPr>
              <a:r>
                <a:rPr lang="en-US" b="true" sz="2499">
                  <a:solidFill>
                    <a:srgbClr val="0D747A"/>
                  </a:solidFill>
                  <a:latin typeface="Open Sans 2 Bold"/>
                  <a:ea typeface="Open Sans 2 Bold"/>
                  <a:cs typeface="Open Sans 2 Bold"/>
                  <a:sym typeface="Open Sans 2 Bold"/>
                </a:rPr>
                <a:t>View</a:t>
              </a:r>
            </a:p>
          </p:txBody>
        </p:sp>
        <p:sp>
          <p:nvSpPr>
            <p:cNvPr name="TextBox 13" id="13"/>
            <p:cNvSpPr txBox="true"/>
            <p:nvPr/>
          </p:nvSpPr>
          <p:spPr>
            <a:xfrm rot="0">
              <a:off x="0" y="867833"/>
              <a:ext cx="12967059" cy="1633220"/>
            </a:xfrm>
            <a:prstGeom prst="rect">
              <a:avLst/>
            </a:prstGeom>
          </p:spPr>
          <p:txBody>
            <a:bodyPr anchor="t" rtlCol="false" tIns="0" lIns="0" bIns="0" rIns="0">
              <a:spAutoFit/>
            </a:bodyPr>
            <a:lstStyle/>
            <a:p>
              <a:pPr algn="l" marL="0" indent="0" lvl="0">
                <a:lnSpc>
                  <a:spcPts val="3359"/>
                </a:lnSpc>
              </a:pPr>
              <a:r>
                <a:rPr lang="en-US" sz="2400">
                  <a:solidFill>
                    <a:srgbClr val="0D747A"/>
                  </a:solidFill>
                  <a:latin typeface="Open Sans 2"/>
                  <a:ea typeface="Open Sans 2"/>
                  <a:cs typeface="Open Sans 2"/>
                  <a:sym typeface="Open Sans 2"/>
                </a:rPr>
                <a:t>Chịu t</a:t>
              </a:r>
              <a:r>
                <a:rPr lang="en-US" sz="2400">
                  <a:solidFill>
                    <a:srgbClr val="0D747A"/>
                  </a:solidFill>
                  <a:latin typeface="Open Sans 2"/>
                  <a:ea typeface="Open Sans 2"/>
                  <a:cs typeface="Open Sans 2"/>
                  <a:sym typeface="Open Sans 2"/>
                </a:rPr>
                <a:t>rách nhiệm hiển thị giao diện người dùng và cập nhật kết quả. Cung cấp các thành phần giao diện (widgets) và tương tác với người dùng qua các sự kiện.</a:t>
              </a:r>
            </a:p>
          </p:txBody>
        </p:sp>
      </p:grpSp>
      <p:grpSp>
        <p:nvGrpSpPr>
          <p:cNvPr name="Group 14" id="14"/>
          <p:cNvGrpSpPr/>
          <p:nvPr/>
        </p:nvGrpSpPr>
        <p:grpSpPr>
          <a:xfrm rot="0">
            <a:off x="5291216" y="7111987"/>
            <a:ext cx="9725294" cy="1875790"/>
            <a:chOff x="0" y="0"/>
            <a:chExt cx="12967059" cy="2501053"/>
          </a:xfrm>
        </p:grpSpPr>
        <p:sp>
          <p:nvSpPr>
            <p:cNvPr name="TextBox 15" id="15"/>
            <p:cNvSpPr txBox="true"/>
            <p:nvPr/>
          </p:nvSpPr>
          <p:spPr>
            <a:xfrm rot="0">
              <a:off x="0" y="-47625"/>
              <a:ext cx="12967059" cy="547158"/>
            </a:xfrm>
            <a:prstGeom prst="rect">
              <a:avLst/>
            </a:prstGeom>
          </p:spPr>
          <p:txBody>
            <a:bodyPr anchor="t" rtlCol="false" tIns="0" lIns="0" bIns="0" rIns="0">
              <a:spAutoFit/>
            </a:bodyPr>
            <a:lstStyle/>
            <a:p>
              <a:pPr algn="l" marL="0" indent="0" lvl="0">
                <a:lnSpc>
                  <a:spcPts val="3499"/>
                </a:lnSpc>
              </a:pPr>
              <a:r>
                <a:rPr lang="en-US" b="true" sz="2499">
                  <a:solidFill>
                    <a:srgbClr val="0D747A"/>
                  </a:solidFill>
                  <a:latin typeface="Open Sans 2 Bold"/>
                  <a:ea typeface="Open Sans 2 Bold"/>
                  <a:cs typeface="Open Sans 2 Bold"/>
                  <a:sym typeface="Open Sans 2 Bold"/>
                </a:rPr>
                <a:t>Controller</a:t>
              </a:r>
            </a:p>
          </p:txBody>
        </p:sp>
        <p:sp>
          <p:nvSpPr>
            <p:cNvPr name="TextBox 16" id="16"/>
            <p:cNvSpPr txBox="true"/>
            <p:nvPr/>
          </p:nvSpPr>
          <p:spPr>
            <a:xfrm rot="0">
              <a:off x="0" y="867833"/>
              <a:ext cx="12967059" cy="1633220"/>
            </a:xfrm>
            <a:prstGeom prst="rect">
              <a:avLst/>
            </a:prstGeom>
          </p:spPr>
          <p:txBody>
            <a:bodyPr anchor="t" rtlCol="false" tIns="0" lIns="0" bIns="0" rIns="0">
              <a:spAutoFit/>
            </a:bodyPr>
            <a:lstStyle/>
            <a:p>
              <a:pPr algn="l" marL="0" indent="0" lvl="0">
                <a:lnSpc>
                  <a:spcPts val="3359"/>
                </a:lnSpc>
              </a:pPr>
              <a:r>
                <a:rPr lang="en-US" sz="2400">
                  <a:solidFill>
                    <a:srgbClr val="0D747A"/>
                  </a:solidFill>
                  <a:latin typeface="Open Sans 2"/>
                  <a:ea typeface="Open Sans 2"/>
                  <a:cs typeface="Open Sans 2"/>
                  <a:sym typeface="Open Sans 2"/>
                </a:rPr>
                <a:t>Đóng</a:t>
              </a:r>
              <a:r>
                <a:rPr lang="en-US" sz="2400">
                  <a:solidFill>
                    <a:srgbClr val="0D747A"/>
                  </a:solidFill>
                  <a:latin typeface="Open Sans 2"/>
                  <a:ea typeface="Open Sans 2"/>
                  <a:cs typeface="Open Sans 2"/>
                  <a:sym typeface="Open Sans 2"/>
                </a:rPr>
                <a:t> vai trò trung gian giữa Model và View, điều phối luồng dữ liệu và thực thi quy tắc nghiệp vụ. Đảm bảo yêu cầu người dùng được xử lý đúng cách.</a:t>
              </a:r>
            </a:p>
          </p:txBody>
        </p:sp>
      </p:grpSp>
      <p:sp>
        <p:nvSpPr>
          <p:cNvPr name="Freeform 17" id="17"/>
          <p:cNvSpPr/>
          <p:nvPr/>
        </p:nvSpPr>
        <p:spPr>
          <a:xfrm flipH="true" flipV="true" rot="0">
            <a:off x="13056301" y="8987778"/>
            <a:ext cx="5609143" cy="5609143"/>
          </a:xfrm>
          <a:custGeom>
            <a:avLst/>
            <a:gdLst/>
            <a:ahLst/>
            <a:cxnLst/>
            <a:rect r="r" b="b" t="t" l="l"/>
            <a:pathLst>
              <a:path h="5609143" w="5609143">
                <a:moveTo>
                  <a:pt x="5609142" y="5609142"/>
                </a:moveTo>
                <a:lnTo>
                  <a:pt x="0" y="5609142"/>
                </a:lnTo>
                <a:lnTo>
                  <a:pt x="0" y="0"/>
                </a:lnTo>
                <a:lnTo>
                  <a:pt x="5609142" y="0"/>
                </a:lnTo>
                <a:lnTo>
                  <a:pt x="5609142" y="5609142"/>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014783" y="6871181"/>
            <a:ext cx="5284194" cy="3520594"/>
          </a:xfrm>
          <a:custGeom>
            <a:avLst/>
            <a:gdLst/>
            <a:ahLst/>
            <a:cxnLst/>
            <a:rect r="r" b="b" t="t" l="l"/>
            <a:pathLst>
              <a:path h="3520594" w="5284194">
                <a:moveTo>
                  <a:pt x="0" y="0"/>
                </a:moveTo>
                <a:lnTo>
                  <a:pt x="5284194" y="0"/>
                </a:lnTo>
                <a:lnTo>
                  <a:pt x="5284194" y="3520594"/>
                </a:lnTo>
                <a:lnTo>
                  <a:pt x="0" y="352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061633" y="481012"/>
            <a:ext cx="7792488"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Tính tương quan</a:t>
            </a:r>
          </a:p>
        </p:txBody>
      </p:sp>
      <p:sp>
        <p:nvSpPr>
          <p:cNvPr name="AutoShape 4" id="4"/>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5" id="5"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a:grpSpLocks noChangeAspect="true"/>
          </p:cNvGrpSpPr>
          <p:nvPr/>
        </p:nvGrpSpPr>
        <p:grpSpPr>
          <a:xfrm rot="0">
            <a:off x="1685184" y="3120370"/>
            <a:ext cx="7644784" cy="6137930"/>
            <a:chOff x="0" y="0"/>
            <a:chExt cx="7467600" cy="5995670"/>
          </a:xfrm>
        </p:grpSpPr>
        <p:sp>
          <p:nvSpPr>
            <p:cNvPr name="Freeform 7" id="7"/>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8" id="8"/>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9" id="9"/>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10" id="10"/>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1" id="11"/>
          <p:cNvSpPr txBox="true"/>
          <p:nvPr/>
        </p:nvSpPr>
        <p:spPr>
          <a:xfrm rot="0">
            <a:off x="9957877" y="2835537"/>
            <a:ext cx="7301423" cy="6257925"/>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tính tương quan tr</a:t>
            </a:r>
            <a:r>
              <a:rPr lang="en-US" sz="2599">
                <a:solidFill>
                  <a:srgbClr val="0D747A"/>
                </a:solidFill>
                <a:latin typeface="Open Sans 2"/>
                <a:ea typeface="Open Sans 2"/>
                <a:cs typeface="Open Sans 2"/>
                <a:sym typeface="Open Sans 2"/>
              </a:rPr>
              <a:t>ong ứng dụng được thiết kế để hỗ trợ người dùng đo lường mối quan hệ tuyến tính giữa hai cột dữ liệu số trong tập dữ liệu đã tải lên.</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Hai cột dữ liệu số được chọn từ tập dữ liệu CSV đã tải.</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Dữ liệu đầu vào phải được tải trước thông qua phương thức load_data.</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Hệ số tương quan Pearson.</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Biểu đồ phân tán (scatter plot) hiển thị mối quan hệ trực quan giữa hai cột.</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a:p>
            <a:pPr algn="l" marL="0" indent="0" lvl="0">
              <a:lnSpc>
                <a:spcPts val="311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014783" y="6871181"/>
            <a:ext cx="5284194" cy="3520594"/>
          </a:xfrm>
          <a:custGeom>
            <a:avLst/>
            <a:gdLst/>
            <a:ahLst/>
            <a:cxnLst/>
            <a:rect r="r" b="b" t="t" l="l"/>
            <a:pathLst>
              <a:path h="3520594" w="5284194">
                <a:moveTo>
                  <a:pt x="0" y="0"/>
                </a:moveTo>
                <a:lnTo>
                  <a:pt x="5284194" y="0"/>
                </a:lnTo>
                <a:lnTo>
                  <a:pt x="5284194" y="3520594"/>
                </a:lnTo>
                <a:lnTo>
                  <a:pt x="0" y="352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0" id="10"/>
          <p:cNvSpPr txBox="true"/>
          <p:nvPr/>
        </p:nvSpPr>
        <p:spPr>
          <a:xfrm rot="0">
            <a:off x="5245027" y="481012"/>
            <a:ext cx="9425700"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Chuẩn hóa Min-Max</a:t>
            </a:r>
          </a:p>
        </p:txBody>
      </p:sp>
      <p:sp>
        <p:nvSpPr>
          <p:cNvPr name="TextBox 11" id="11"/>
          <p:cNvSpPr txBox="true"/>
          <p:nvPr/>
        </p:nvSpPr>
        <p:spPr>
          <a:xfrm rot="0">
            <a:off x="9957877" y="3226062"/>
            <a:ext cx="7301423" cy="5476875"/>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chuẩn hóa Min-Max tr</a:t>
            </a:r>
            <a:r>
              <a:rPr lang="en-US" sz="2599">
                <a:solidFill>
                  <a:srgbClr val="0D747A"/>
                </a:solidFill>
                <a:latin typeface="Open Sans 2"/>
                <a:ea typeface="Open Sans 2"/>
                <a:cs typeface="Open Sans 2"/>
                <a:sym typeface="Open Sans 2"/>
              </a:rPr>
              <a:t>ong ứng dụng được thiết kế để chuyển đổi các giá trị dữ liệu số về một thang đo nhất định, dựa trên giá trị nhỏ nhất và lớn nhất của tập dữ liệu.</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G</a:t>
            </a:r>
            <a:r>
              <a:rPr lang="en-US" sz="2599">
                <a:solidFill>
                  <a:srgbClr val="0D747A"/>
                </a:solidFill>
                <a:latin typeface="Open Sans 2"/>
                <a:ea typeface="Open Sans 2"/>
                <a:cs typeface="Open Sans 2"/>
                <a:sym typeface="Open Sans 2"/>
              </a:rPr>
              <a:t>iá trị cần chuẩn hóa, giá trị nhỏ nhất và lớn nhất của thang cũ, cùng giá trị nhỏ nhất và lớn nhất của thang mới.</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Yêu cầu tất cả giá trị là số thực.</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Giá</a:t>
            </a:r>
            <a:r>
              <a:rPr lang="en-US" sz="2599">
                <a:solidFill>
                  <a:srgbClr val="0D747A"/>
                </a:solidFill>
                <a:latin typeface="Open Sans 2"/>
                <a:ea typeface="Open Sans 2"/>
                <a:cs typeface="Open Sans 2"/>
                <a:sym typeface="Open Sans 2"/>
              </a:rPr>
              <a:t> trị đã chuẩn hóa được hiển thị.</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a:p>
            <a:pPr algn="l" marL="0" indent="0" lvl="0">
              <a:lnSpc>
                <a:spcPts val="311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205677" y="6898428"/>
            <a:ext cx="5284194" cy="3520594"/>
          </a:xfrm>
          <a:custGeom>
            <a:avLst/>
            <a:gdLst/>
            <a:ahLst/>
            <a:cxnLst/>
            <a:rect r="r" b="b" t="t" l="l"/>
            <a:pathLst>
              <a:path h="3520594" w="5284194">
                <a:moveTo>
                  <a:pt x="0" y="0"/>
                </a:moveTo>
                <a:lnTo>
                  <a:pt x="5284195" y="0"/>
                </a:lnTo>
                <a:lnTo>
                  <a:pt x="5284195"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0" id="10"/>
          <p:cNvSpPr txBox="true"/>
          <p:nvPr/>
        </p:nvSpPr>
        <p:spPr>
          <a:xfrm rot="0">
            <a:off x="3548183" y="481012"/>
            <a:ext cx="12819388"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Tập phổ biến &amp; luật kết hợp</a:t>
            </a:r>
          </a:p>
        </p:txBody>
      </p:sp>
      <p:sp>
        <p:nvSpPr>
          <p:cNvPr name="TextBox 11" id="11"/>
          <p:cNvSpPr txBox="true"/>
          <p:nvPr/>
        </p:nvSpPr>
        <p:spPr>
          <a:xfrm rot="0">
            <a:off x="9958618" y="1816804"/>
            <a:ext cx="7300682" cy="8210550"/>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tập phổ biến và luật kết hợp tr</a:t>
            </a:r>
            <a:r>
              <a:rPr lang="en-US" sz="2599">
                <a:solidFill>
                  <a:srgbClr val="0D747A"/>
                </a:solidFill>
                <a:latin typeface="Open Sans 2"/>
                <a:ea typeface="Open Sans 2"/>
                <a:cs typeface="Open Sans 2"/>
                <a:sym typeface="Open Sans 2"/>
              </a:rPr>
              <a:t>ong ứng dụng được thiết kế để khai thác các quy tắc kết hợp (association rules) từ tập dữ liệu giao dịch, dựa trên thuật toán Apriori.</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Ngưỡ</a:t>
            </a:r>
            <a:r>
              <a:rPr lang="en-US" sz="2599">
                <a:solidFill>
                  <a:srgbClr val="0D747A"/>
                </a:solidFill>
                <a:latin typeface="Open Sans 2"/>
                <a:ea typeface="Open Sans 2"/>
                <a:cs typeface="Open Sans 2"/>
                <a:sym typeface="Open Sans 2"/>
              </a:rPr>
              <a:t>ng hỗ trợ tối thiểu (min_support) và ngưỡng độ tin cậy tối thiểu (min_confidence), phải là số thực từ 0 đến 1.</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Cột dữ liệ</a:t>
            </a:r>
            <a:r>
              <a:rPr lang="en-US" sz="2599">
                <a:solidFill>
                  <a:srgbClr val="0D747A"/>
                </a:solidFill>
                <a:latin typeface="Open Sans 2"/>
                <a:ea typeface="Open Sans 2"/>
                <a:cs typeface="Open Sans 2"/>
                <a:sym typeface="Open Sans 2"/>
              </a:rPr>
              <a:t>u (tùy chọn), mặc định sử dụng toàn bộ dữ liệu nếu không chọn.</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Danh sách các tập phổ biến thỏa min_support (bao gồm giá</a:t>
            </a:r>
            <a:r>
              <a:rPr lang="en-US" sz="2599">
                <a:solidFill>
                  <a:srgbClr val="0D747A"/>
                </a:solidFill>
                <a:latin typeface="Open Sans 2"/>
                <a:ea typeface="Open Sans 2"/>
                <a:cs typeface="Open Sans 2"/>
                <a:sym typeface="Open Sans 2"/>
              </a:rPr>
              <a:t> trị hỗ trợ).</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Các tập phổ biến tối đại.</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Tất cả các quy tắc kết hợp (bao gồm độ tin cậy).</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Các quy tắc thỏa min_confidence.</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a:p>
            <a:pPr algn="l" marL="0" indent="0" lvl="0">
              <a:lnSpc>
                <a:spcPts val="311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205677" y="6898428"/>
            <a:ext cx="5284194" cy="3520594"/>
          </a:xfrm>
          <a:custGeom>
            <a:avLst/>
            <a:gdLst/>
            <a:ahLst/>
            <a:cxnLst/>
            <a:rect r="r" b="b" t="t" l="l"/>
            <a:pathLst>
              <a:path h="3520594" w="5284194">
                <a:moveTo>
                  <a:pt x="0" y="0"/>
                </a:moveTo>
                <a:lnTo>
                  <a:pt x="5284195" y="0"/>
                </a:lnTo>
                <a:lnTo>
                  <a:pt x="5284195"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0" id="10"/>
          <p:cNvSpPr txBox="true"/>
          <p:nvPr/>
        </p:nvSpPr>
        <p:spPr>
          <a:xfrm rot="0">
            <a:off x="7336995" y="481012"/>
            <a:ext cx="3614010"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Tập thô</a:t>
            </a:r>
          </a:p>
        </p:txBody>
      </p:sp>
      <p:sp>
        <p:nvSpPr>
          <p:cNvPr name="TextBox 11" id="11"/>
          <p:cNvSpPr txBox="true"/>
          <p:nvPr/>
        </p:nvSpPr>
        <p:spPr>
          <a:xfrm rot="0">
            <a:off x="9958618" y="2207329"/>
            <a:ext cx="7300682" cy="7429500"/>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tập thô tr</a:t>
            </a:r>
            <a:r>
              <a:rPr lang="en-US" sz="2599">
                <a:solidFill>
                  <a:srgbClr val="0D747A"/>
                </a:solidFill>
                <a:latin typeface="Open Sans 2"/>
                <a:ea typeface="Open Sans 2"/>
                <a:cs typeface="Open Sans 2"/>
                <a:sym typeface="Open Sans 2"/>
              </a:rPr>
              <a:t>ong ứng dụng được thiết kế để áp dụng lý thuyết tập thô (rough set theory) nhằm phân tích và xử lý dữ liệu không chắc chắn hoặc không hoàn chỉnh. Chức năng này hỗ trợ người dùng xác định các tập xấp xỉ dưới và trên, tính độ chính xác, hệ số phụ thuộc, và tìm các tập rút gọn (reducts) dựa trên các thuộc tính đã chọn.</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Số lượ</a:t>
            </a:r>
            <a:r>
              <a:rPr lang="en-US" sz="2599">
                <a:solidFill>
                  <a:srgbClr val="0D747A"/>
                </a:solidFill>
                <a:latin typeface="Open Sans 2"/>
                <a:ea typeface="Open Sans 2"/>
                <a:cs typeface="Open Sans 2"/>
                <a:sym typeface="Open Sans 2"/>
              </a:rPr>
              <a:t>ng thuộc tính và danh sách thuộc tính được chọn.</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Thuộc tính q</a:t>
            </a:r>
            <a:r>
              <a:rPr lang="en-US" sz="2599">
                <a:solidFill>
                  <a:srgbClr val="0D747A"/>
                </a:solidFill>
                <a:latin typeface="Open Sans 2"/>
                <a:ea typeface="Open Sans 2"/>
                <a:cs typeface="Open Sans 2"/>
                <a:sym typeface="Open Sans 2"/>
              </a:rPr>
              <a:t>uyết định và lớp mục tiêu.</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Tập xấp xỉ dưới, tập xấp xỉ</a:t>
            </a:r>
            <a:r>
              <a:rPr lang="en-US" sz="2599">
                <a:solidFill>
                  <a:srgbClr val="0D747A"/>
                </a:solidFill>
                <a:latin typeface="Open Sans 2"/>
                <a:ea typeface="Open Sans 2"/>
                <a:cs typeface="Open Sans 2"/>
                <a:sym typeface="Open Sans 2"/>
              </a:rPr>
              <a:t> trên, độ chính xác, hệ số phụ thuộc, và các tập rút gọn được hiển thị</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a:p>
            <a:pPr algn="l" marL="0" indent="0" lvl="0">
              <a:lnSpc>
                <a:spcPts val="311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205677" y="6898428"/>
            <a:ext cx="5284194" cy="3520594"/>
          </a:xfrm>
          <a:custGeom>
            <a:avLst/>
            <a:gdLst/>
            <a:ahLst/>
            <a:cxnLst/>
            <a:rect r="r" b="b" t="t" l="l"/>
            <a:pathLst>
              <a:path h="3520594" w="5284194">
                <a:moveTo>
                  <a:pt x="0" y="0"/>
                </a:moveTo>
                <a:lnTo>
                  <a:pt x="5284195" y="0"/>
                </a:lnTo>
                <a:lnTo>
                  <a:pt x="5284195"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0" id="10"/>
          <p:cNvSpPr txBox="true"/>
          <p:nvPr/>
        </p:nvSpPr>
        <p:spPr>
          <a:xfrm rot="0">
            <a:off x="5582198" y="481012"/>
            <a:ext cx="7495541"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Cây quyết định</a:t>
            </a:r>
          </a:p>
        </p:txBody>
      </p:sp>
      <p:sp>
        <p:nvSpPr>
          <p:cNvPr name="TextBox 11" id="11"/>
          <p:cNvSpPr txBox="true"/>
          <p:nvPr/>
        </p:nvSpPr>
        <p:spPr>
          <a:xfrm rot="0">
            <a:off x="9958618" y="2207329"/>
            <a:ext cx="7300682" cy="7429500"/>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cây quyết định tr</a:t>
            </a:r>
            <a:r>
              <a:rPr lang="en-US" sz="2599">
                <a:solidFill>
                  <a:srgbClr val="0D747A"/>
                </a:solidFill>
                <a:latin typeface="Open Sans 2"/>
                <a:ea typeface="Open Sans 2"/>
                <a:cs typeface="Open Sans 2"/>
                <a:sym typeface="Open Sans 2"/>
              </a:rPr>
              <a:t>ong ứng dụng được thiết kế để xây dựng và trực quan hóa một cây quyết định dựa trên thuật toán ID3, sử dụng hai tiêu chí lựa chọn thuộc tính: Gain (thông tin) và Gini. Chức năng này hỗ trợ người dùng phân loại dữ liệu hoặc trích xuất quy tắc dựa trên các thuộc tính đã chọn.</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Da</a:t>
            </a:r>
            <a:r>
              <a:rPr lang="en-US" sz="2599">
                <a:solidFill>
                  <a:srgbClr val="0D747A"/>
                </a:solidFill>
                <a:latin typeface="Open Sans 2"/>
                <a:ea typeface="Open Sans 2"/>
                <a:cs typeface="Open Sans 2"/>
                <a:sym typeface="Open Sans 2"/>
              </a:rPr>
              <a:t>nh sách thuộc tính chọn.</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Thuộc tính q</a:t>
            </a:r>
            <a:r>
              <a:rPr lang="en-US" sz="2599">
                <a:solidFill>
                  <a:srgbClr val="0D747A"/>
                </a:solidFill>
                <a:latin typeface="Open Sans 2"/>
                <a:ea typeface="Open Sans 2"/>
                <a:cs typeface="Open Sans 2"/>
                <a:sym typeface="Open Sans 2"/>
              </a:rPr>
              <a:t>uyết định.</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Phương pháp phân tách (method: "gain" hoặc "gini").</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G</a:t>
            </a:r>
            <a:r>
              <a:rPr lang="en-US" sz="2599">
                <a:solidFill>
                  <a:srgbClr val="0D747A"/>
                </a:solidFill>
                <a:latin typeface="Open Sans 2"/>
                <a:ea typeface="Open Sans 2"/>
                <a:cs typeface="Open Sans 2"/>
                <a:sym typeface="Open Sans 2"/>
              </a:rPr>
              <a:t>iá trị entropy/gain hoặc Gini cho từng thuộc tính, và các quy tắc trích xuất.</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Biểu đồ cây quyết định.</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a:p>
            <a:pPr algn="l" marL="0" indent="0" lvl="0">
              <a:lnSpc>
                <a:spcPts val="3119"/>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205677" y="6898428"/>
            <a:ext cx="5284194" cy="3520594"/>
          </a:xfrm>
          <a:custGeom>
            <a:avLst/>
            <a:gdLst/>
            <a:ahLst/>
            <a:cxnLst/>
            <a:rect r="r" b="b" t="t" l="l"/>
            <a:pathLst>
              <a:path h="3520594" w="5284194">
                <a:moveTo>
                  <a:pt x="0" y="0"/>
                </a:moveTo>
                <a:lnTo>
                  <a:pt x="5284195" y="0"/>
                </a:lnTo>
                <a:lnTo>
                  <a:pt x="5284195"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0" id="10"/>
          <p:cNvSpPr txBox="true"/>
          <p:nvPr/>
        </p:nvSpPr>
        <p:spPr>
          <a:xfrm rot="0">
            <a:off x="4337939" y="481012"/>
            <a:ext cx="9984059"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Phân lớp Naive Bayes</a:t>
            </a:r>
          </a:p>
        </p:txBody>
      </p:sp>
      <p:sp>
        <p:nvSpPr>
          <p:cNvPr name="TextBox 11" id="11"/>
          <p:cNvSpPr txBox="true"/>
          <p:nvPr/>
        </p:nvSpPr>
        <p:spPr>
          <a:xfrm rot="0">
            <a:off x="9958618" y="2597854"/>
            <a:ext cx="7300682" cy="6648450"/>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Naive Bayes tr</a:t>
            </a:r>
            <a:r>
              <a:rPr lang="en-US" sz="2599">
                <a:solidFill>
                  <a:srgbClr val="0D747A"/>
                </a:solidFill>
                <a:latin typeface="Open Sans 2"/>
                <a:ea typeface="Open Sans 2"/>
                <a:cs typeface="Open Sans 2"/>
                <a:sym typeface="Open Sans 2"/>
              </a:rPr>
              <a:t>ong ứng dụng được thiết kế để thực hiện phân loại dữ liệu dựa trên định lý Bayes, với hai chế độ: không làm trơn (non-Laplace) và làm trơn Laplace. Chức năng này hỗ trợ người dùng dự đoán lớp của một mẫu dựa trên các thuộc tính đã cho.</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Cột</a:t>
            </a:r>
            <a:r>
              <a:rPr lang="en-US" sz="2599">
                <a:solidFill>
                  <a:srgbClr val="0D747A"/>
                </a:solidFill>
                <a:latin typeface="Open Sans 2"/>
                <a:ea typeface="Open Sans 2"/>
                <a:cs typeface="Open Sans 2"/>
                <a:sym typeface="Open Sans 2"/>
              </a:rPr>
              <a:t> mục tiêu.</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Mẫu dữ liệ</a:t>
            </a:r>
            <a:r>
              <a:rPr lang="en-US" sz="2599">
                <a:solidFill>
                  <a:srgbClr val="0D747A"/>
                </a:solidFill>
                <a:latin typeface="Open Sans 2"/>
                <a:ea typeface="Open Sans 2"/>
                <a:cs typeface="Open Sans 2"/>
                <a:sym typeface="Open Sans 2"/>
              </a:rPr>
              <a:t>u nhập dưới dạng dictionary, chứa các cặp thuộc tính-giá trị.</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Chế độ làm trơn (laplace), mặc định là False.</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H</a:t>
            </a:r>
            <a:r>
              <a:rPr lang="en-US" sz="2599">
                <a:solidFill>
                  <a:srgbClr val="0D747A"/>
                </a:solidFill>
                <a:latin typeface="Open Sans 2"/>
                <a:ea typeface="Open Sans 2"/>
                <a:cs typeface="Open Sans 2"/>
                <a:sym typeface="Open Sans 2"/>
              </a:rPr>
              <a:t>iển thị lớp dự đoán, mẫu đầu vào, và xác suất hậu nghiệm cho từng lớp.</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205677" y="6898428"/>
            <a:ext cx="5284194" cy="3520594"/>
          </a:xfrm>
          <a:custGeom>
            <a:avLst/>
            <a:gdLst/>
            <a:ahLst/>
            <a:cxnLst/>
            <a:rect r="r" b="b" t="t" l="l"/>
            <a:pathLst>
              <a:path h="3520594" w="5284194">
                <a:moveTo>
                  <a:pt x="0" y="0"/>
                </a:moveTo>
                <a:lnTo>
                  <a:pt x="5284195" y="0"/>
                </a:lnTo>
                <a:lnTo>
                  <a:pt x="5284195"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0" t="-66" r="0" b="-66"/>
              </a:stretch>
            </a:blipFill>
          </p:spPr>
        </p:sp>
      </p:grpSp>
      <p:sp>
        <p:nvSpPr>
          <p:cNvPr name="TextBox 10" id="10"/>
          <p:cNvSpPr txBox="true"/>
          <p:nvPr/>
        </p:nvSpPr>
        <p:spPr>
          <a:xfrm rot="0">
            <a:off x="4900018" y="481012"/>
            <a:ext cx="8859900"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Phân cụm K-means</a:t>
            </a:r>
          </a:p>
        </p:txBody>
      </p:sp>
      <p:sp>
        <p:nvSpPr>
          <p:cNvPr name="TextBox 11" id="11"/>
          <p:cNvSpPr txBox="true"/>
          <p:nvPr/>
        </p:nvSpPr>
        <p:spPr>
          <a:xfrm rot="0">
            <a:off x="9958618" y="2402591"/>
            <a:ext cx="7300682" cy="7038975"/>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phân cụm K-means tr</a:t>
            </a:r>
            <a:r>
              <a:rPr lang="en-US" sz="2599">
                <a:solidFill>
                  <a:srgbClr val="0D747A"/>
                </a:solidFill>
                <a:latin typeface="Open Sans 2"/>
                <a:ea typeface="Open Sans 2"/>
                <a:cs typeface="Open Sans 2"/>
                <a:sym typeface="Open Sans 2"/>
              </a:rPr>
              <a:t>ong ứng dụng được thiết kế để thực hiện phân cụm dữ liệu số dựa trên thuật toán K-means. Chức năng này hỗ trợ người dùng nhóm các điểm dữ liệu thành các cụm dựa trên khoảng cách Euclide.</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Danh</a:t>
            </a:r>
            <a:r>
              <a:rPr lang="en-US" sz="2599">
                <a:solidFill>
                  <a:srgbClr val="0D747A"/>
                </a:solidFill>
                <a:latin typeface="Open Sans 2"/>
                <a:ea typeface="Open Sans 2"/>
                <a:cs typeface="Open Sans 2"/>
                <a:sym typeface="Open Sans 2"/>
              </a:rPr>
              <a:t> sách cột</a:t>
            </a:r>
            <a:r>
              <a:rPr lang="en-US" sz="2599">
                <a:solidFill>
                  <a:srgbClr val="0D747A"/>
                </a:solidFill>
                <a:latin typeface="Open Sans 2"/>
                <a:ea typeface="Open Sans 2"/>
                <a:cs typeface="Open Sans 2"/>
                <a:sym typeface="Open Sans 2"/>
              </a:rPr>
              <a:t> dữ liệ</a:t>
            </a:r>
            <a:r>
              <a:rPr lang="en-US" sz="2599">
                <a:solidFill>
                  <a:srgbClr val="0D747A"/>
                </a:solidFill>
                <a:latin typeface="Open Sans 2"/>
                <a:ea typeface="Open Sans 2"/>
                <a:cs typeface="Open Sans 2"/>
                <a:sym typeface="Open Sans 2"/>
              </a:rPr>
              <a:t>u số.</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Số lượng cụm (k) nhập qua k_entry, phải là số nguyên dương và không vượt quá số mẫu.</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N</a:t>
            </a:r>
            <a:r>
              <a:rPr lang="en-US" sz="2599">
                <a:solidFill>
                  <a:srgbClr val="0D747A"/>
                </a:solidFill>
                <a:latin typeface="Open Sans 2"/>
                <a:ea typeface="Open Sans 2"/>
                <a:cs typeface="Open Sans 2"/>
                <a:sym typeface="Open Sans 2"/>
              </a:rPr>
              <a:t>hãn ban đầu (tùy chọn).</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H</a:t>
            </a:r>
            <a:r>
              <a:rPr lang="en-US" sz="2599">
                <a:solidFill>
                  <a:srgbClr val="0D747A"/>
                </a:solidFill>
                <a:latin typeface="Open Sans 2"/>
                <a:ea typeface="Open Sans 2"/>
                <a:cs typeface="Open Sans 2"/>
                <a:sym typeface="Open Sans 2"/>
              </a:rPr>
              <a:t>iển thị nhãn cụm cho từng điểm dữ liệu và tọa độ tâm cụm.</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Nếu dữ liệu hai chiều, biểu đồ phân tán (scatter plot) được vẽ.</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false" flipV="false" rot="0">
            <a:off x="15205677" y="6898428"/>
            <a:ext cx="5284194" cy="3520594"/>
          </a:xfrm>
          <a:custGeom>
            <a:avLst/>
            <a:gdLst/>
            <a:ahLst/>
            <a:cxnLst/>
            <a:rect r="r" b="b" t="t" l="l"/>
            <a:pathLst>
              <a:path h="3520594" w="5284194">
                <a:moveTo>
                  <a:pt x="0" y="0"/>
                </a:moveTo>
                <a:lnTo>
                  <a:pt x="5284195" y="0"/>
                </a:lnTo>
                <a:lnTo>
                  <a:pt x="5284195"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5400000">
            <a:off x="-4232535" y="5129212"/>
            <a:ext cx="10551046" cy="0"/>
          </a:xfrm>
          <a:prstGeom prst="line">
            <a:avLst/>
          </a:prstGeom>
          <a:ln cap="rnd" w="28575">
            <a:solidFill>
              <a:srgbClr val="D62828"/>
            </a:solidFill>
            <a:prstDash val="solid"/>
            <a:headEnd type="none" len="sm" w="sm"/>
            <a:tailEnd type="none" len="sm" w="sm"/>
          </a:ln>
        </p:spPr>
      </p:sp>
      <p:sp>
        <p:nvSpPr>
          <p:cNvPr name="Freeform 4" id="4" descr="Abstract Bauhaus Shape"/>
          <p:cNvSpPr/>
          <p:nvPr/>
        </p:nvSpPr>
        <p:spPr>
          <a:xfrm flipH="false" flipV="false" rot="-10800000">
            <a:off x="-1762209" y="-280497"/>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a:grpSpLocks noChangeAspect="true"/>
          </p:cNvGrpSpPr>
          <p:nvPr/>
        </p:nvGrpSpPr>
        <p:grpSpPr>
          <a:xfrm rot="0">
            <a:off x="1685184" y="3120370"/>
            <a:ext cx="7644784" cy="6137930"/>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4"/>
              <a:stretch>
                <a:fillRect l="-45" t="0" r="-45" b="0"/>
              </a:stretch>
            </a:blipFill>
          </p:spPr>
        </p:sp>
      </p:grpSp>
      <p:sp>
        <p:nvSpPr>
          <p:cNvPr name="TextBox 10" id="10"/>
          <p:cNvSpPr txBox="true"/>
          <p:nvPr/>
        </p:nvSpPr>
        <p:spPr>
          <a:xfrm rot="0">
            <a:off x="4181799" y="481012"/>
            <a:ext cx="11553639" cy="1095375"/>
          </a:xfrm>
          <a:prstGeom prst="rect">
            <a:avLst/>
          </a:prstGeom>
        </p:spPr>
        <p:txBody>
          <a:bodyPr anchor="t" rtlCol="false" tIns="0" lIns="0" bIns="0" rIns="0">
            <a:spAutoFit/>
          </a:bodyPr>
          <a:lstStyle/>
          <a:p>
            <a:pPr algn="l" marL="0" indent="0" lvl="0">
              <a:lnSpc>
                <a:spcPts val="8640"/>
              </a:lnSpc>
            </a:pPr>
            <a:r>
              <a:rPr lang="en-US" b="true" sz="7200">
                <a:solidFill>
                  <a:srgbClr val="0D747A"/>
                </a:solidFill>
                <a:latin typeface="Open Sans 2 Bold"/>
                <a:ea typeface="Open Sans 2 Bold"/>
                <a:cs typeface="Open Sans 2 Bold"/>
                <a:sym typeface="Open Sans 2 Bold"/>
              </a:rPr>
              <a:t>Phân cụm Kohonen SOM</a:t>
            </a:r>
          </a:p>
        </p:txBody>
      </p:sp>
      <p:sp>
        <p:nvSpPr>
          <p:cNvPr name="TextBox 11" id="11"/>
          <p:cNvSpPr txBox="true"/>
          <p:nvPr/>
        </p:nvSpPr>
        <p:spPr>
          <a:xfrm rot="0">
            <a:off x="9958618" y="2402591"/>
            <a:ext cx="7300682" cy="7038975"/>
          </a:xfrm>
          <a:prstGeom prst="rect">
            <a:avLst/>
          </a:prstGeom>
        </p:spPr>
        <p:txBody>
          <a:bodyPr anchor="t" rtlCol="false" tIns="0" lIns="0" bIns="0" rIns="0">
            <a:spAutoFit/>
          </a:bodyPr>
          <a:lstStyle/>
          <a:p>
            <a:pPr algn="l" marL="0" indent="0" lvl="0">
              <a:lnSpc>
                <a:spcPts val="3119"/>
              </a:lnSpc>
            </a:pPr>
            <a:r>
              <a:rPr lang="en-US" sz="2599">
                <a:solidFill>
                  <a:srgbClr val="0D747A"/>
                </a:solidFill>
                <a:latin typeface="Open Sans 2"/>
                <a:ea typeface="Open Sans 2"/>
                <a:cs typeface="Open Sans 2"/>
                <a:sym typeface="Open Sans 2"/>
              </a:rPr>
              <a:t>Chức năng Kohonen Self-Organizing Map (SOM) tr</a:t>
            </a:r>
            <a:r>
              <a:rPr lang="en-US" sz="2599">
                <a:solidFill>
                  <a:srgbClr val="0D747A"/>
                </a:solidFill>
                <a:latin typeface="Open Sans 2"/>
                <a:ea typeface="Open Sans 2"/>
                <a:cs typeface="Open Sans 2"/>
                <a:sym typeface="Open Sans 2"/>
              </a:rPr>
              <a:t>ong ứng dụng được thiết kế để thực hiện phân cụm và trực quan hóa dữ liệu số dựa trên mạng nơ-ron tự tổ chức. Chức năng này hỗ trợ người dùng ánh xạ dữ liệu đa chiều vào một lưới hai chiều.</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vào:</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Danh</a:t>
            </a:r>
            <a:r>
              <a:rPr lang="en-US" sz="2599">
                <a:solidFill>
                  <a:srgbClr val="0D747A"/>
                </a:solidFill>
                <a:latin typeface="Open Sans 2"/>
                <a:ea typeface="Open Sans 2"/>
                <a:cs typeface="Open Sans 2"/>
                <a:sym typeface="Open Sans 2"/>
              </a:rPr>
              <a:t> sách cột</a:t>
            </a:r>
            <a:r>
              <a:rPr lang="en-US" sz="2599">
                <a:solidFill>
                  <a:srgbClr val="0D747A"/>
                </a:solidFill>
                <a:latin typeface="Open Sans 2"/>
                <a:ea typeface="Open Sans 2"/>
                <a:cs typeface="Open Sans 2"/>
                <a:sym typeface="Open Sans 2"/>
              </a:rPr>
              <a:t> dữ liệ</a:t>
            </a:r>
            <a:r>
              <a:rPr lang="en-US" sz="2599">
                <a:solidFill>
                  <a:srgbClr val="0D747A"/>
                </a:solidFill>
                <a:latin typeface="Open Sans 2"/>
                <a:ea typeface="Open Sans 2"/>
                <a:cs typeface="Open Sans 2"/>
                <a:sym typeface="Open Sans 2"/>
              </a:rPr>
              <a:t>u số.</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Kích thước</a:t>
            </a:r>
            <a:r>
              <a:rPr lang="en-US" sz="2599">
                <a:solidFill>
                  <a:srgbClr val="0D747A"/>
                </a:solidFill>
                <a:latin typeface="Open Sans 2"/>
                <a:ea typeface="Open Sans 2"/>
                <a:cs typeface="Open Sans 2"/>
                <a:sym typeface="Open Sans 2"/>
              </a:rPr>
              <a:t> lưới.</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Số vòng lặp (n_iterations), tốc độ học ban đầu (initial_lr), và sigma ban đầu (initial_sigma), phải là số dương.</a:t>
            </a:r>
          </a:p>
          <a:p>
            <a:pPr algn="l" marL="561339" indent="-280669" lvl="1">
              <a:lnSpc>
                <a:spcPts val="3119"/>
              </a:lnSpc>
              <a:buFont typeface="Arial"/>
              <a:buChar char="•"/>
            </a:pPr>
            <a:r>
              <a:rPr lang="en-US" sz="2599">
                <a:solidFill>
                  <a:srgbClr val="0D747A"/>
                </a:solidFill>
                <a:latin typeface="Open Sans 2"/>
                <a:ea typeface="Open Sans 2"/>
                <a:cs typeface="Open Sans 2"/>
                <a:sym typeface="Open Sans 2"/>
              </a:rPr>
              <a:t>Đầu ra:</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H</a:t>
            </a:r>
            <a:r>
              <a:rPr lang="en-US" sz="2599">
                <a:solidFill>
                  <a:srgbClr val="0D747A"/>
                </a:solidFill>
                <a:latin typeface="Open Sans 2"/>
                <a:ea typeface="Open Sans 2"/>
                <a:cs typeface="Open Sans 2"/>
                <a:sym typeface="Open Sans 2"/>
              </a:rPr>
              <a:t>iển thị trọng số của từng nơ-ron trên lưới và ánh xạ dữ liệu vào các nơ-ron</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Biểu đồ lưới SOM được vẽ.</a:t>
            </a:r>
          </a:p>
          <a:p>
            <a:pPr algn="l" marL="1122678" indent="-374226" lvl="2">
              <a:lnSpc>
                <a:spcPts val="3119"/>
              </a:lnSpc>
              <a:buFont typeface="Arial"/>
              <a:buChar char="⚬"/>
            </a:pPr>
            <a:r>
              <a:rPr lang="en-US" sz="2599">
                <a:solidFill>
                  <a:srgbClr val="0D747A"/>
                </a:solidFill>
                <a:latin typeface="Open Sans 2"/>
                <a:ea typeface="Open Sans 2"/>
                <a:cs typeface="Open Sans 2"/>
                <a:sym typeface="Open Sans 2"/>
              </a:rPr>
              <a:t>Trường hợp lỗi sẽ hiển thị thông báo qua messagebox.showerror.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Freeform 2" id="2" descr="Abstract Bauhaus Shape"/>
          <p:cNvSpPr/>
          <p:nvPr/>
        </p:nvSpPr>
        <p:spPr>
          <a:xfrm flipH="true" flipV="true" rot="0">
            <a:off x="-1957952" y="-161925"/>
            <a:ext cx="5284194" cy="3520594"/>
          </a:xfrm>
          <a:custGeom>
            <a:avLst/>
            <a:gdLst/>
            <a:ahLst/>
            <a:cxnLst/>
            <a:rect r="r" b="b" t="t" l="l"/>
            <a:pathLst>
              <a:path h="3520594" w="5284194">
                <a:moveTo>
                  <a:pt x="5284194" y="3520594"/>
                </a:moveTo>
                <a:lnTo>
                  <a:pt x="0" y="3520594"/>
                </a:lnTo>
                <a:lnTo>
                  <a:pt x="0" y="0"/>
                </a:lnTo>
                <a:lnTo>
                  <a:pt x="5284194" y="0"/>
                </a:lnTo>
                <a:lnTo>
                  <a:pt x="5284194" y="352059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859016" y="4528878"/>
            <a:ext cx="4080776" cy="1156335"/>
          </a:xfrm>
          <a:prstGeom prst="rect">
            <a:avLst/>
          </a:prstGeom>
        </p:spPr>
        <p:txBody>
          <a:bodyPr anchor="t" rtlCol="false" tIns="0" lIns="0" bIns="0" rIns="0">
            <a:spAutoFit/>
          </a:bodyPr>
          <a:lstStyle/>
          <a:p>
            <a:pPr algn="l" marL="0" indent="0" lvl="0">
              <a:lnSpc>
                <a:spcPts val="9360"/>
              </a:lnSpc>
            </a:pPr>
            <a:r>
              <a:rPr lang="en-US" b="true" sz="7200">
                <a:solidFill>
                  <a:srgbClr val="0D747A"/>
                </a:solidFill>
                <a:latin typeface="Open Sans 2 Bold"/>
                <a:ea typeface="Open Sans 2 Bold"/>
                <a:cs typeface="Open Sans 2 Bold"/>
                <a:sym typeface="Open Sans 2 Bold"/>
              </a:rPr>
              <a:t>Kết luận</a:t>
            </a:r>
          </a:p>
        </p:txBody>
      </p:sp>
      <p:sp>
        <p:nvSpPr>
          <p:cNvPr name="Freeform 4" id="4"/>
          <p:cNvSpPr/>
          <p:nvPr/>
        </p:nvSpPr>
        <p:spPr>
          <a:xfrm flipH="false" flipV="false" rot="0">
            <a:off x="6021369" y="7476606"/>
            <a:ext cx="881980" cy="881980"/>
          </a:xfrm>
          <a:custGeom>
            <a:avLst/>
            <a:gdLst/>
            <a:ahLst/>
            <a:cxnLst/>
            <a:rect r="r" b="b" t="t" l="l"/>
            <a:pathLst>
              <a:path h="881980" w="881980">
                <a:moveTo>
                  <a:pt x="0" y="0"/>
                </a:moveTo>
                <a:lnTo>
                  <a:pt x="881979" y="0"/>
                </a:lnTo>
                <a:lnTo>
                  <a:pt x="881979" y="881980"/>
                </a:lnTo>
                <a:lnTo>
                  <a:pt x="0" y="8819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a:grpSpLocks noChangeAspect="true"/>
          </p:cNvGrpSpPr>
          <p:nvPr/>
        </p:nvGrpSpPr>
        <p:grpSpPr>
          <a:xfrm rot="5400000">
            <a:off x="6021369" y="4699393"/>
            <a:ext cx="881980" cy="881980"/>
            <a:chOff x="0" y="0"/>
            <a:chExt cx="1708150" cy="1708150"/>
          </a:xfrm>
        </p:grpSpPr>
        <p:sp>
          <p:nvSpPr>
            <p:cNvPr name="Freeform 6" id="6"/>
            <p:cNvSpPr/>
            <p:nvPr/>
          </p:nvSpPr>
          <p:spPr>
            <a:xfrm flipH="false" flipV="false" rot="0">
              <a:off x="0" y="0"/>
              <a:ext cx="1708150" cy="1708150"/>
            </a:xfrm>
            <a:custGeom>
              <a:avLst/>
              <a:gdLst/>
              <a:ahLst/>
              <a:cxnLst/>
              <a:rect r="r" b="b" t="t" l="l"/>
              <a:pathLst>
                <a:path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D62828"/>
            </a:solidFill>
          </p:spPr>
        </p:sp>
      </p:grpSp>
      <p:sp>
        <p:nvSpPr>
          <p:cNvPr name="AutoShape 7" id="7"/>
          <p:cNvSpPr/>
          <p:nvPr/>
        </p:nvSpPr>
        <p:spPr>
          <a:xfrm rot="-10800000">
            <a:off x="6021369" y="1952663"/>
            <a:ext cx="881980" cy="825375"/>
          </a:xfrm>
          <a:prstGeom prst="rect">
            <a:avLst/>
          </a:prstGeom>
          <a:solidFill>
            <a:srgbClr val="D62828"/>
          </a:solidFill>
        </p:spPr>
      </p:sp>
      <p:grpSp>
        <p:nvGrpSpPr>
          <p:cNvPr name="Group 8" id="8"/>
          <p:cNvGrpSpPr/>
          <p:nvPr/>
        </p:nvGrpSpPr>
        <p:grpSpPr>
          <a:xfrm rot="0">
            <a:off x="7489577" y="6924277"/>
            <a:ext cx="9769723" cy="1986638"/>
            <a:chOff x="0" y="0"/>
            <a:chExt cx="13026297" cy="2648851"/>
          </a:xfrm>
        </p:grpSpPr>
        <p:sp>
          <p:nvSpPr>
            <p:cNvPr name="TextBox 9" id="9"/>
            <p:cNvSpPr txBox="true"/>
            <p:nvPr/>
          </p:nvSpPr>
          <p:spPr>
            <a:xfrm rot="0">
              <a:off x="0" y="-19050"/>
              <a:ext cx="13026297" cy="853211"/>
            </a:xfrm>
            <a:prstGeom prst="rect">
              <a:avLst/>
            </a:prstGeom>
          </p:spPr>
          <p:txBody>
            <a:bodyPr anchor="t" rtlCol="false" tIns="0" lIns="0" bIns="0" rIns="0">
              <a:spAutoFit/>
            </a:bodyPr>
            <a:lstStyle/>
            <a:p>
              <a:pPr algn="l" marL="0" indent="0" lvl="0">
                <a:lnSpc>
                  <a:spcPts val="5225"/>
                </a:lnSpc>
                <a:spcBef>
                  <a:spcPct val="0"/>
                </a:spcBef>
              </a:pPr>
              <a:r>
                <a:rPr lang="en-US" sz="4147">
                  <a:solidFill>
                    <a:srgbClr val="0D747A"/>
                  </a:solidFill>
                  <a:latin typeface="Open Sans 2"/>
                  <a:ea typeface="Open Sans 2"/>
                  <a:cs typeface="Open Sans 2"/>
                  <a:sym typeface="Open Sans 2"/>
                </a:rPr>
                <a:t>Nhược điểm</a:t>
              </a:r>
            </a:p>
          </p:txBody>
        </p:sp>
        <p:sp>
          <p:nvSpPr>
            <p:cNvPr name="TextBox 10" id="10"/>
            <p:cNvSpPr txBox="true"/>
            <p:nvPr/>
          </p:nvSpPr>
          <p:spPr>
            <a:xfrm rot="0">
              <a:off x="0" y="976134"/>
              <a:ext cx="13026297" cy="1672717"/>
            </a:xfrm>
            <a:prstGeom prst="rect">
              <a:avLst/>
            </a:prstGeom>
          </p:spPr>
          <p:txBody>
            <a:bodyPr anchor="t" rtlCol="false" tIns="0" lIns="0" bIns="0" rIns="0">
              <a:spAutoFit/>
            </a:bodyPr>
            <a:lstStyle/>
            <a:p>
              <a:pPr algn="l" marL="518160" indent="-259080" lvl="1">
                <a:lnSpc>
                  <a:spcPts val="3408"/>
                </a:lnSpc>
                <a:spcBef>
                  <a:spcPct val="0"/>
                </a:spcBef>
                <a:buFont typeface="Arial"/>
                <a:buChar char="•"/>
              </a:pPr>
              <a:r>
                <a:rPr lang="en-US" sz="2400">
                  <a:solidFill>
                    <a:srgbClr val="0D747A"/>
                  </a:solidFill>
                  <a:latin typeface="Open Sans 2"/>
                  <a:ea typeface="Open Sans 2"/>
                  <a:cs typeface="Open Sans 2"/>
                  <a:sym typeface="Open Sans 2"/>
                </a:rPr>
                <a:t>Chứ</a:t>
              </a:r>
              <a:r>
                <a:rPr lang="en-US" sz="2400" u="none">
                  <a:solidFill>
                    <a:srgbClr val="0D747A"/>
                  </a:solidFill>
                  <a:latin typeface="Open Sans 2"/>
                  <a:ea typeface="Open Sans 2"/>
                  <a:cs typeface="Open Sans 2"/>
                  <a:sym typeface="Open Sans 2"/>
                </a:rPr>
                <a:t>c năng còn giới hạn</a:t>
              </a:r>
            </a:p>
            <a:p>
              <a:pPr algn="l" marL="518160" indent="-259080" lvl="1">
                <a:lnSpc>
                  <a:spcPts val="3408"/>
                </a:lnSpc>
                <a:spcBef>
                  <a:spcPct val="0"/>
                </a:spcBef>
                <a:buFont typeface="Arial"/>
                <a:buChar char="•"/>
              </a:pPr>
              <a:r>
                <a:rPr lang="en-US" sz="2400" u="none">
                  <a:solidFill>
                    <a:srgbClr val="0D747A"/>
                  </a:solidFill>
                  <a:latin typeface="Open Sans 2"/>
                  <a:ea typeface="Open Sans 2"/>
                  <a:cs typeface="Open Sans 2"/>
                  <a:sym typeface="Open Sans 2"/>
                </a:rPr>
                <a:t>Giao diện còn</a:t>
              </a:r>
              <a:r>
                <a:rPr lang="en-US" sz="2400" u="none">
                  <a:solidFill>
                    <a:srgbClr val="0D747A"/>
                  </a:solidFill>
                  <a:latin typeface="Open Sans 2"/>
                  <a:ea typeface="Open Sans 2"/>
                  <a:cs typeface="Open Sans 2"/>
                  <a:sym typeface="Open Sans 2"/>
                </a:rPr>
                <a:t> chưa tối ưu</a:t>
              </a:r>
            </a:p>
            <a:p>
              <a:pPr algn="l" marL="518160" indent="-259080" lvl="1">
                <a:lnSpc>
                  <a:spcPts val="3408"/>
                </a:lnSpc>
                <a:spcBef>
                  <a:spcPct val="0"/>
                </a:spcBef>
                <a:buFont typeface="Arial"/>
                <a:buChar char="•"/>
              </a:pPr>
              <a:r>
                <a:rPr lang="en-US" sz="2400" u="none">
                  <a:solidFill>
                    <a:srgbClr val="0D747A"/>
                  </a:solidFill>
                  <a:latin typeface="Open Sans 2"/>
                  <a:ea typeface="Open Sans 2"/>
                  <a:cs typeface="Open Sans 2"/>
                  <a:sym typeface="Open Sans 2"/>
                </a:rPr>
                <a:t>Logic chức năng p</a:t>
              </a:r>
              <a:r>
                <a:rPr lang="en-US" sz="2400" u="none">
                  <a:solidFill>
                    <a:srgbClr val="0D747A"/>
                  </a:solidFill>
                  <a:latin typeface="Open Sans 2"/>
                  <a:ea typeface="Open Sans 2"/>
                  <a:cs typeface="Open Sans 2"/>
                  <a:sym typeface="Open Sans 2"/>
                </a:rPr>
                <a:t>hụ thuộc định dạng dữ liệu đầu vào</a:t>
              </a:r>
            </a:p>
          </p:txBody>
        </p:sp>
      </p:grpSp>
      <p:grpSp>
        <p:nvGrpSpPr>
          <p:cNvPr name="Group 11" id="11"/>
          <p:cNvGrpSpPr/>
          <p:nvPr/>
        </p:nvGrpSpPr>
        <p:grpSpPr>
          <a:xfrm rot="0">
            <a:off x="7489577" y="4147064"/>
            <a:ext cx="9493986" cy="1986638"/>
            <a:chOff x="0" y="0"/>
            <a:chExt cx="12658647" cy="2648851"/>
          </a:xfrm>
        </p:grpSpPr>
        <p:sp>
          <p:nvSpPr>
            <p:cNvPr name="TextBox 12" id="12"/>
            <p:cNvSpPr txBox="true"/>
            <p:nvPr/>
          </p:nvSpPr>
          <p:spPr>
            <a:xfrm rot="0">
              <a:off x="0" y="-19050"/>
              <a:ext cx="12658647" cy="853211"/>
            </a:xfrm>
            <a:prstGeom prst="rect">
              <a:avLst/>
            </a:prstGeom>
          </p:spPr>
          <p:txBody>
            <a:bodyPr anchor="t" rtlCol="false" tIns="0" lIns="0" bIns="0" rIns="0">
              <a:spAutoFit/>
            </a:bodyPr>
            <a:lstStyle/>
            <a:p>
              <a:pPr algn="l" marL="0" indent="0" lvl="0">
                <a:lnSpc>
                  <a:spcPts val="5225"/>
                </a:lnSpc>
                <a:spcBef>
                  <a:spcPct val="0"/>
                </a:spcBef>
              </a:pPr>
              <a:r>
                <a:rPr lang="en-US" sz="4147">
                  <a:solidFill>
                    <a:srgbClr val="0D747A"/>
                  </a:solidFill>
                  <a:latin typeface="Open Sans 2"/>
                  <a:ea typeface="Open Sans 2"/>
                  <a:cs typeface="Open Sans 2"/>
                  <a:sym typeface="Open Sans 2"/>
                </a:rPr>
                <a:t>Ưu điểm</a:t>
              </a:r>
            </a:p>
          </p:txBody>
        </p:sp>
        <p:sp>
          <p:nvSpPr>
            <p:cNvPr name="TextBox 13" id="13"/>
            <p:cNvSpPr txBox="true"/>
            <p:nvPr/>
          </p:nvSpPr>
          <p:spPr>
            <a:xfrm rot="0">
              <a:off x="0" y="976134"/>
              <a:ext cx="12658647" cy="1672717"/>
            </a:xfrm>
            <a:prstGeom prst="rect">
              <a:avLst/>
            </a:prstGeom>
          </p:spPr>
          <p:txBody>
            <a:bodyPr anchor="t" rtlCol="false" tIns="0" lIns="0" bIns="0" rIns="0">
              <a:spAutoFit/>
            </a:bodyPr>
            <a:lstStyle/>
            <a:p>
              <a:pPr algn="l" marL="518160" indent="-259080" lvl="1">
                <a:lnSpc>
                  <a:spcPts val="3408"/>
                </a:lnSpc>
                <a:spcBef>
                  <a:spcPct val="0"/>
                </a:spcBef>
                <a:buFont typeface="Arial"/>
                <a:buChar char="•"/>
              </a:pPr>
              <a:r>
                <a:rPr lang="en-US" sz="2400">
                  <a:solidFill>
                    <a:srgbClr val="0D747A"/>
                  </a:solidFill>
                  <a:latin typeface="Open Sans 2"/>
                  <a:ea typeface="Open Sans 2"/>
                  <a:cs typeface="Open Sans 2"/>
                  <a:sym typeface="Open Sans 2"/>
                </a:rPr>
                <a:t>Kết</a:t>
              </a:r>
              <a:r>
                <a:rPr lang="en-US" sz="2400" u="none">
                  <a:solidFill>
                    <a:srgbClr val="0D747A"/>
                  </a:solidFill>
                  <a:latin typeface="Open Sans 2"/>
                  <a:ea typeface="Open Sans 2"/>
                  <a:cs typeface="Open Sans 2"/>
                  <a:sym typeface="Open Sans 2"/>
                </a:rPr>
                <a:t> hợp lý thuyết và thực hành, triển khai được các chức năng.</a:t>
              </a:r>
            </a:p>
            <a:p>
              <a:pPr algn="l" marL="518160" indent="-259080" lvl="1">
                <a:lnSpc>
                  <a:spcPts val="3408"/>
                </a:lnSpc>
                <a:spcBef>
                  <a:spcPct val="0"/>
                </a:spcBef>
                <a:buFont typeface="Arial"/>
                <a:buChar char="•"/>
              </a:pPr>
              <a:r>
                <a:rPr lang="en-US" sz="2400" u="none">
                  <a:solidFill>
                    <a:srgbClr val="0D747A"/>
                  </a:solidFill>
                  <a:latin typeface="Open Sans 2"/>
                  <a:ea typeface="Open Sans 2"/>
                  <a:cs typeface="Open Sans 2"/>
                  <a:sym typeface="Open Sans 2"/>
                </a:rPr>
                <a:t>Giao diện thân thiện, dễ tương tác</a:t>
              </a:r>
            </a:p>
            <a:p>
              <a:pPr algn="l" marL="518160" indent="-259080" lvl="1">
                <a:lnSpc>
                  <a:spcPts val="3408"/>
                </a:lnSpc>
                <a:spcBef>
                  <a:spcPct val="0"/>
                </a:spcBef>
                <a:buFont typeface="Arial"/>
                <a:buChar char="•"/>
              </a:pPr>
              <a:r>
                <a:rPr lang="en-US" sz="2400" u="none">
                  <a:solidFill>
                    <a:srgbClr val="0D747A"/>
                  </a:solidFill>
                  <a:latin typeface="Open Sans 2"/>
                  <a:ea typeface="Open Sans 2"/>
                  <a:cs typeface="Open Sans 2"/>
                  <a:sym typeface="Open Sans 2"/>
                </a:rPr>
                <a:t>Cấu trúc MVC rõ ràng, dễ bảo trì, sửa lỗi và cập nhật</a:t>
              </a:r>
            </a:p>
          </p:txBody>
        </p:sp>
      </p:grpSp>
      <p:grpSp>
        <p:nvGrpSpPr>
          <p:cNvPr name="Group 14" id="14"/>
          <p:cNvGrpSpPr/>
          <p:nvPr/>
        </p:nvGrpSpPr>
        <p:grpSpPr>
          <a:xfrm rot="0">
            <a:off x="7489577" y="1372031"/>
            <a:ext cx="9493986" cy="1986638"/>
            <a:chOff x="0" y="0"/>
            <a:chExt cx="12658647" cy="2648851"/>
          </a:xfrm>
        </p:grpSpPr>
        <p:sp>
          <p:nvSpPr>
            <p:cNvPr name="TextBox 15" id="15"/>
            <p:cNvSpPr txBox="true"/>
            <p:nvPr/>
          </p:nvSpPr>
          <p:spPr>
            <a:xfrm rot="0">
              <a:off x="0" y="-19050"/>
              <a:ext cx="12658647" cy="853211"/>
            </a:xfrm>
            <a:prstGeom prst="rect">
              <a:avLst/>
            </a:prstGeom>
          </p:spPr>
          <p:txBody>
            <a:bodyPr anchor="t" rtlCol="false" tIns="0" lIns="0" bIns="0" rIns="0">
              <a:spAutoFit/>
            </a:bodyPr>
            <a:lstStyle/>
            <a:p>
              <a:pPr algn="l" marL="0" indent="0" lvl="0">
                <a:lnSpc>
                  <a:spcPts val="5225"/>
                </a:lnSpc>
                <a:spcBef>
                  <a:spcPct val="0"/>
                </a:spcBef>
              </a:pPr>
              <a:r>
                <a:rPr lang="en-US" sz="4147">
                  <a:solidFill>
                    <a:srgbClr val="0D747A"/>
                  </a:solidFill>
                  <a:latin typeface="Open Sans 2"/>
                  <a:ea typeface="Open Sans 2"/>
                  <a:cs typeface="Open Sans 2"/>
                  <a:sym typeface="Open Sans 2"/>
                </a:rPr>
                <a:t>Kết luận</a:t>
              </a:r>
            </a:p>
          </p:txBody>
        </p:sp>
        <p:sp>
          <p:nvSpPr>
            <p:cNvPr name="TextBox 16" id="16"/>
            <p:cNvSpPr txBox="true"/>
            <p:nvPr/>
          </p:nvSpPr>
          <p:spPr>
            <a:xfrm rot="0">
              <a:off x="0" y="976134"/>
              <a:ext cx="12658647" cy="1672717"/>
            </a:xfrm>
            <a:prstGeom prst="rect">
              <a:avLst/>
            </a:prstGeom>
          </p:spPr>
          <p:txBody>
            <a:bodyPr anchor="t" rtlCol="false" tIns="0" lIns="0" bIns="0" rIns="0">
              <a:spAutoFit/>
            </a:bodyPr>
            <a:lstStyle/>
            <a:p>
              <a:pPr algn="l" marL="0" indent="0" lvl="0">
                <a:lnSpc>
                  <a:spcPts val="3408"/>
                </a:lnSpc>
                <a:spcBef>
                  <a:spcPct val="0"/>
                </a:spcBef>
              </a:pPr>
              <a:r>
                <a:rPr lang="en-US" sz="2400">
                  <a:solidFill>
                    <a:srgbClr val="0D747A"/>
                  </a:solidFill>
                  <a:latin typeface="Open Sans 2"/>
                  <a:ea typeface="Open Sans 2"/>
                  <a:cs typeface="Open Sans 2"/>
                  <a:sym typeface="Open Sans 2"/>
                </a:rPr>
                <a:t>Đồ án đã</a:t>
              </a:r>
              <a:r>
                <a:rPr lang="en-US" sz="2400" u="none">
                  <a:solidFill>
                    <a:srgbClr val="0D747A"/>
                  </a:solidFill>
                  <a:latin typeface="Open Sans 2"/>
                  <a:ea typeface="Open Sans 2"/>
                  <a:cs typeface="Open Sans 2"/>
                  <a:sym typeface="Open Sans 2"/>
                </a:rPr>
                <a:t> đạt được kết quả tích cực trong việc kết hợp lý thuyết và ứng dụng thực tiễn, củng cố kiến thức về khai phá dữ liệu và rèn luyện kỹ năng xây dựng phần mềm.</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DFCFF"/>
        </a:solidFill>
      </p:bgPr>
    </p:bg>
    <p:spTree>
      <p:nvGrpSpPr>
        <p:cNvPr id="1" name=""/>
        <p:cNvGrpSpPr/>
        <p:nvPr/>
      </p:nvGrpSpPr>
      <p:grpSpPr>
        <a:xfrm>
          <a:off x="0" y="0"/>
          <a:ext cx="0" cy="0"/>
          <a:chOff x="0" y="0"/>
          <a:chExt cx="0" cy="0"/>
        </a:xfrm>
      </p:grpSpPr>
      <p:sp>
        <p:nvSpPr>
          <p:cNvPr name="TextBox 2" id="2"/>
          <p:cNvSpPr txBox="true"/>
          <p:nvPr/>
        </p:nvSpPr>
        <p:spPr>
          <a:xfrm rot="0">
            <a:off x="1028700" y="3781946"/>
            <a:ext cx="16230600" cy="2317980"/>
          </a:xfrm>
          <a:prstGeom prst="rect">
            <a:avLst/>
          </a:prstGeom>
        </p:spPr>
        <p:txBody>
          <a:bodyPr anchor="t" rtlCol="false" tIns="0" lIns="0" bIns="0" rIns="0">
            <a:spAutoFit/>
          </a:bodyPr>
          <a:lstStyle/>
          <a:p>
            <a:pPr algn="ctr">
              <a:lnSpc>
                <a:spcPts val="17576"/>
              </a:lnSpc>
            </a:pPr>
            <a:r>
              <a:rPr lang="en-US" b="true" sz="17232">
                <a:solidFill>
                  <a:srgbClr val="0D747A"/>
                </a:solidFill>
                <a:latin typeface="Open Sans 1 Ultra-Bold"/>
                <a:ea typeface="Open Sans 1 Ultra-Bold"/>
                <a:cs typeface="Open Sans 1 Ultra-Bold"/>
                <a:sym typeface="Open Sans 1 Ultra-Bold"/>
              </a:rPr>
              <a:t>THANK YOU</a:t>
            </a:r>
          </a:p>
        </p:txBody>
      </p:sp>
      <p:sp>
        <p:nvSpPr>
          <p:cNvPr name="TextBox 3" id="3"/>
          <p:cNvSpPr txBox="true"/>
          <p:nvPr/>
        </p:nvSpPr>
        <p:spPr>
          <a:xfrm rot="0">
            <a:off x="5730977" y="6042776"/>
            <a:ext cx="3427828" cy="481330"/>
          </a:xfrm>
          <a:prstGeom prst="rect">
            <a:avLst/>
          </a:prstGeom>
        </p:spPr>
        <p:txBody>
          <a:bodyPr anchor="t" rtlCol="false" tIns="0" lIns="0" bIns="0" rIns="0">
            <a:spAutoFit/>
          </a:bodyPr>
          <a:lstStyle/>
          <a:p>
            <a:pPr algn="l">
              <a:lnSpc>
                <a:spcPts val="3919"/>
              </a:lnSpc>
            </a:pPr>
            <a:r>
              <a:rPr lang="en-US" sz="2799">
                <a:solidFill>
                  <a:srgbClr val="0D747A"/>
                </a:solidFill>
                <a:latin typeface="Open Sans 1"/>
                <a:ea typeface="Open Sans 1"/>
                <a:cs typeface="Open Sans 1"/>
                <a:sym typeface="Open Sans 1"/>
              </a:rPr>
              <a:t>Presentation by</a:t>
            </a:r>
          </a:p>
        </p:txBody>
      </p:sp>
      <p:sp>
        <p:nvSpPr>
          <p:cNvPr name="TextBox 4" id="4"/>
          <p:cNvSpPr txBox="true"/>
          <p:nvPr/>
        </p:nvSpPr>
        <p:spPr>
          <a:xfrm rot="0">
            <a:off x="8478926" y="6042776"/>
            <a:ext cx="4078097" cy="481330"/>
          </a:xfrm>
          <a:prstGeom prst="rect">
            <a:avLst/>
          </a:prstGeom>
        </p:spPr>
        <p:txBody>
          <a:bodyPr anchor="t" rtlCol="false" tIns="0" lIns="0" bIns="0" rIns="0">
            <a:spAutoFit/>
          </a:bodyPr>
          <a:lstStyle/>
          <a:p>
            <a:pPr algn="l">
              <a:lnSpc>
                <a:spcPts val="3919"/>
              </a:lnSpc>
            </a:pPr>
            <a:r>
              <a:rPr lang="en-US" sz="2799" b="true">
                <a:solidFill>
                  <a:srgbClr val="0D747A"/>
                </a:solidFill>
                <a:latin typeface="Open Sans 1 Bold"/>
                <a:ea typeface="Open Sans 1 Bold"/>
                <a:cs typeface="Open Sans 1 Bold"/>
                <a:sym typeface="Open Sans 1 Bold"/>
              </a:rPr>
              <a:t>Nguyễn Cao Thắng</a:t>
            </a:r>
          </a:p>
        </p:txBody>
      </p:sp>
      <p:sp>
        <p:nvSpPr>
          <p:cNvPr name="Freeform 5" id="5"/>
          <p:cNvSpPr/>
          <p:nvPr/>
        </p:nvSpPr>
        <p:spPr>
          <a:xfrm flipH="false" flipV="false" rot="0">
            <a:off x="15014783" y="6900924"/>
            <a:ext cx="5284194" cy="3520594"/>
          </a:xfrm>
          <a:custGeom>
            <a:avLst/>
            <a:gdLst/>
            <a:ahLst/>
            <a:cxnLst/>
            <a:rect r="r" b="b" t="t" l="l"/>
            <a:pathLst>
              <a:path h="3520594" w="5284194">
                <a:moveTo>
                  <a:pt x="0" y="0"/>
                </a:moveTo>
                <a:lnTo>
                  <a:pt x="5284194" y="0"/>
                </a:lnTo>
                <a:lnTo>
                  <a:pt x="5284194" y="3520595"/>
                </a:lnTo>
                <a:lnTo>
                  <a:pt x="0" y="35205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0">
            <a:off x="-1957952" y="-157749"/>
            <a:ext cx="5284194" cy="3520594"/>
          </a:xfrm>
          <a:custGeom>
            <a:avLst/>
            <a:gdLst/>
            <a:ahLst/>
            <a:cxnLst/>
            <a:rect r="r" b="b" t="t" l="l"/>
            <a:pathLst>
              <a:path h="3520594" w="5284194">
                <a:moveTo>
                  <a:pt x="5284194" y="3520595"/>
                </a:moveTo>
                <a:lnTo>
                  <a:pt x="0" y="3520595"/>
                </a:lnTo>
                <a:lnTo>
                  <a:pt x="0" y="0"/>
                </a:lnTo>
                <a:lnTo>
                  <a:pt x="5284194" y="0"/>
                </a:lnTo>
                <a:lnTo>
                  <a:pt x="5284194" y="352059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12460835" y="-3848845"/>
            <a:ext cx="5609143" cy="5609143"/>
          </a:xfrm>
          <a:custGeom>
            <a:avLst/>
            <a:gdLst/>
            <a:ahLst/>
            <a:cxnLst/>
            <a:rect r="r" b="b" t="t" l="l"/>
            <a:pathLst>
              <a:path h="5609143" w="5609143">
                <a:moveTo>
                  <a:pt x="5609143" y="0"/>
                </a:moveTo>
                <a:lnTo>
                  <a:pt x="0" y="0"/>
                </a:lnTo>
                <a:lnTo>
                  <a:pt x="0" y="5609142"/>
                </a:lnTo>
                <a:lnTo>
                  <a:pt x="5609143" y="5609142"/>
                </a:lnTo>
                <a:lnTo>
                  <a:pt x="5609143"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true" rot="0">
            <a:off x="-218022" y="8526703"/>
            <a:ext cx="5609143" cy="5609143"/>
          </a:xfrm>
          <a:custGeom>
            <a:avLst/>
            <a:gdLst/>
            <a:ahLst/>
            <a:cxnLst/>
            <a:rect r="r" b="b" t="t" l="l"/>
            <a:pathLst>
              <a:path h="5609143" w="5609143">
                <a:moveTo>
                  <a:pt x="0" y="5609142"/>
                </a:moveTo>
                <a:lnTo>
                  <a:pt x="5609142" y="5609142"/>
                </a:lnTo>
                <a:lnTo>
                  <a:pt x="5609142" y="0"/>
                </a:lnTo>
                <a:lnTo>
                  <a:pt x="0" y="0"/>
                </a:lnTo>
                <a:lnTo>
                  <a:pt x="0" y="5609142"/>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DAGpvvjffEY</dc:identifier>
  <dcterms:modified xsi:type="dcterms:W3CDTF">2011-08-01T06:04:30Z</dcterms:modified>
  <cp:revision>1</cp:revision>
  <dc:title>Data_Mining</dc:title>
</cp:coreProperties>
</file>